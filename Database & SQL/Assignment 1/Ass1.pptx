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handoutMasterIdLst>
    <p:handoutMasterId r:id="rId23"/>
  </p:handoutMasterIdLst>
  <p:sldIdLst>
    <p:sldId id="256" r:id="rId5"/>
    <p:sldId id="257" r:id="rId6"/>
    <p:sldId id="267" r:id="rId7"/>
    <p:sldId id="278" r:id="rId8"/>
    <p:sldId id="277" r:id="rId9"/>
    <p:sldId id="279" r:id="rId10"/>
    <p:sldId id="280" r:id="rId11"/>
    <p:sldId id="272" r:id="rId12"/>
    <p:sldId id="281" r:id="rId13"/>
    <p:sldId id="282" r:id="rId14"/>
    <p:sldId id="283" r:id="rId15"/>
    <p:sldId id="284" r:id="rId16"/>
    <p:sldId id="285" r:id="rId17"/>
    <p:sldId id="286" r:id="rId18"/>
    <p:sldId id="287" r:id="rId19"/>
    <p:sldId id="288" r:id="rId20"/>
    <p:sldId id="289" r:id="rId2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599" autoAdjust="0"/>
  </p:normalViewPr>
  <p:slideViewPr>
    <p:cSldViewPr>
      <p:cViewPr>
        <p:scale>
          <a:sx n="99" d="100"/>
          <a:sy n="99" d="100"/>
        </p:scale>
        <p:origin x="29" y="-178"/>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6/30/2026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6/30/2026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655530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6/30/2026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6/30/2026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6/30/2026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6/30/2026</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6/30/2026</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6/30/2026</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6/30/2026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6/30/2026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6/30/2026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6/30/2026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6/30/2026</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800" dirty="0">
                <a:latin typeface="Angsana New" panose="02020603050405020304" pitchFamily="18" charset="-34"/>
                <a:cs typeface="Angsana New" panose="02020603050405020304" pitchFamily="18" charset="-34"/>
              </a:rPr>
              <a:t>Adham Ashraf Saeed</a:t>
            </a:r>
          </a:p>
        </p:txBody>
      </p:sp>
      <p:sp>
        <p:nvSpPr>
          <p:cNvPr id="3" name="Subtitle 2"/>
          <p:cNvSpPr>
            <a:spLocks noGrp="1"/>
          </p:cNvSpPr>
          <p:nvPr>
            <p:ph type="subTitle" idx="1"/>
          </p:nvPr>
        </p:nvSpPr>
        <p:spPr>
          <a:xfrm>
            <a:off x="1522414" y="4800600"/>
            <a:ext cx="9143999" cy="1066800"/>
          </a:xfrm>
        </p:spPr>
        <p:txBody>
          <a:bodyPr>
            <a:normAutofit/>
          </a:bodyPr>
          <a:lstStyle/>
          <a:p>
            <a:pPr>
              <a:spcBef>
                <a:spcPct val="0"/>
              </a:spcBef>
            </a:pPr>
            <a:r>
              <a:rPr lang="en-US" sz="4000" dirty="0">
                <a:solidFill>
                  <a:schemeClr val="tx1"/>
                </a:solidFill>
                <a:latin typeface="Angsana New" panose="02020603050405020304" pitchFamily="18" charset="-34"/>
                <a:ea typeface="+mj-ea"/>
                <a:cs typeface="Angsana New" panose="02020603050405020304" pitchFamily="18" charset="-34"/>
              </a:rPr>
              <a:t>Assignment 1 (ERD)</a:t>
            </a: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Case 1</a:t>
            </a:r>
          </a:p>
        </p:txBody>
      </p:sp>
      <p:sp>
        <p:nvSpPr>
          <p:cNvPr id="14" name="Content Placeholder 13"/>
          <p:cNvSpPr>
            <a:spLocks noGrp="1"/>
          </p:cNvSpPr>
          <p:nvPr>
            <p:ph idx="1"/>
          </p:nvPr>
        </p:nvSpPr>
        <p:spPr>
          <a:xfrm>
            <a:off x="1217612" y="1905000"/>
            <a:ext cx="10210800" cy="4724400"/>
          </a:xfrm>
        </p:spPr>
        <p:txBody>
          <a:bodyPr>
            <a:normAutofit/>
          </a:bodyPr>
          <a:lstStyle/>
          <a:p>
            <a:r>
              <a:rPr lang="en-US" sz="4800" dirty="0">
                <a:latin typeface="Angsana New" panose="02020603050405020304" pitchFamily="18" charset="-34"/>
                <a:cs typeface="Angsana New" panose="02020603050405020304" pitchFamily="18" charset="-34"/>
              </a:rPr>
              <a:t>A big company has decided to store information about its projects and employees in a database. </a:t>
            </a:r>
          </a:p>
          <a:p>
            <a:r>
              <a:rPr lang="en-US" sz="4800" dirty="0">
                <a:latin typeface="Angsana New" panose="02020603050405020304" pitchFamily="18" charset="-34"/>
                <a:cs typeface="Angsana New" panose="02020603050405020304" pitchFamily="18" charset="-34"/>
              </a:rPr>
              <a:t>The company has wisely chosen to hire you as a database designer.</a:t>
            </a: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F66B-3294-7D17-7E9E-D2A8286A80BF}"/>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4FFDE03-1E80-BB58-3992-A74951F9F168}"/>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a:t>
            </a:r>
            <a:r>
              <a:rPr lang="ar-EG" sz="5400" dirty="0">
                <a:latin typeface="Angsana New" panose="02020603050405020304" pitchFamily="18" charset="-34"/>
                <a:cs typeface="Angsana New" panose="02020603050405020304" pitchFamily="18" charset="-34"/>
              </a:rPr>
              <a:t>1</a:t>
            </a:r>
            <a:endParaRPr lang="en-US" sz="5400" dirty="0">
              <a:latin typeface="Angsana New" panose="02020603050405020304" pitchFamily="18" charset="-34"/>
              <a:cs typeface="Angsana New" panose="02020603050405020304" pitchFamily="18" charset="-34"/>
            </a:endParaRPr>
          </a:p>
        </p:txBody>
      </p:sp>
      <p:sp>
        <p:nvSpPr>
          <p:cNvPr id="14" name="Content Placeholder 13">
            <a:extLst>
              <a:ext uri="{FF2B5EF4-FFF2-40B4-BE49-F238E27FC236}">
                <a16:creationId xmlns:a16="http://schemas.microsoft.com/office/drawing/2014/main" id="{44615BC4-2D5D-4EF7-FBE9-4E20C21BBA5B}"/>
              </a:ext>
            </a:extLst>
          </p:cNvPr>
          <p:cNvSpPr>
            <a:spLocks noGrp="1"/>
          </p:cNvSpPr>
          <p:nvPr>
            <p:ph idx="1"/>
          </p:nvPr>
        </p:nvSpPr>
        <p:spPr>
          <a:xfrm>
            <a:off x="455612" y="1905000"/>
            <a:ext cx="4267200" cy="4267200"/>
          </a:xfrm>
        </p:spPr>
        <p:txBody>
          <a:bodyPr>
            <a:normAutofit/>
          </a:bodyPr>
          <a:lstStyle/>
          <a:p>
            <a:pPr marL="0" indent="0">
              <a:buNone/>
            </a:pPr>
            <a:r>
              <a:rPr lang="en-US" dirty="0">
                <a:latin typeface="Angsana New" panose="02020603050405020304" pitchFamily="18" charset="-34"/>
                <a:cs typeface="Angsana New" panose="02020603050405020304" pitchFamily="18" charset="-34"/>
              </a:rPr>
              <a:t>Prepare an E-R diagram for this Company according to The following Description:</a:t>
            </a:r>
          </a:p>
          <a:p>
            <a:r>
              <a:rPr lang="en-US" sz="2500" dirty="0">
                <a:latin typeface="Angsana New" panose="02020603050405020304" pitchFamily="18" charset="-34"/>
                <a:cs typeface="Angsana New" panose="02020603050405020304" pitchFamily="18" charset="-34"/>
              </a:rPr>
              <a:t>The company has a number of employees each employee has SSN, Birth Date, Gender and Name which represented as </a:t>
            </a:r>
            <a:r>
              <a:rPr lang="en-US" sz="2500" dirty="0" err="1">
                <a:latin typeface="Angsana New" panose="02020603050405020304" pitchFamily="18" charset="-34"/>
                <a:cs typeface="Angsana New" panose="02020603050405020304" pitchFamily="18" charset="-34"/>
              </a:rPr>
              <a:t>Fname</a:t>
            </a:r>
            <a:r>
              <a:rPr lang="en-US" sz="2500" dirty="0">
                <a:latin typeface="Angsana New" panose="02020603050405020304" pitchFamily="18" charset="-34"/>
                <a:cs typeface="Angsana New" panose="02020603050405020304" pitchFamily="18" charset="-34"/>
              </a:rPr>
              <a:t> and </a:t>
            </a:r>
            <a:r>
              <a:rPr lang="en-US" sz="2500" dirty="0" err="1">
                <a:latin typeface="Angsana New" panose="02020603050405020304" pitchFamily="18" charset="-34"/>
                <a:cs typeface="Angsana New" panose="02020603050405020304" pitchFamily="18" charset="-34"/>
              </a:rPr>
              <a:t>Lname</a:t>
            </a:r>
            <a:r>
              <a:rPr lang="en-US" sz="2500" dirty="0">
                <a:latin typeface="Angsana New" panose="02020603050405020304" pitchFamily="18" charset="-34"/>
                <a:cs typeface="Angsana New" panose="02020603050405020304" pitchFamily="18" charset="-34"/>
              </a:rPr>
              <a:t>.</a:t>
            </a:r>
          </a:p>
          <a:p>
            <a:r>
              <a:rPr lang="en-US" sz="2500" dirty="0">
                <a:latin typeface="Angsana New" panose="02020603050405020304" pitchFamily="18" charset="-34"/>
                <a:cs typeface="Angsana New" panose="02020603050405020304" pitchFamily="18" charset="-34"/>
              </a:rPr>
              <a:t>The company has a set of departments each department has a set of attributes </a:t>
            </a:r>
            <a:r>
              <a:rPr lang="en-US" sz="2500" dirty="0" err="1">
                <a:latin typeface="Angsana New" panose="02020603050405020304" pitchFamily="18" charset="-34"/>
                <a:cs typeface="Angsana New" panose="02020603050405020304" pitchFamily="18" charset="-34"/>
              </a:rPr>
              <a:t>DName</a:t>
            </a:r>
            <a:r>
              <a:rPr lang="en-US" sz="2500" dirty="0">
                <a:latin typeface="Angsana New" panose="02020603050405020304" pitchFamily="18" charset="-34"/>
                <a:cs typeface="Angsana New" panose="02020603050405020304" pitchFamily="18" charset="-34"/>
              </a:rPr>
              <a:t>, DNUM (unique) and locations.</a:t>
            </a:r>
          </a:p>
        </p:txBody>
      </p:sp>
      <p:pic>
        <p:nvPicPr>
          <p:cNvPr id="4" name="Picture 3">
            <a:extLst>
              <a:ext uri="{FF2B5EF4-FFF2-40B4-BE49-F238E27FC236}">
                <a16:creationId xmlns:a16="http://schemas.microsoft.com/office/drawing/2014/main" id="{9FF8B1E0-DB2F-630A-5AFB-CD01079BFA08}"/>
              </a:ext>
            </a:extLst>
          </p:cNvPr>
          <p:cNvPicPr>
            <a:picLocks noChangeAspect="1"/>
          </p:cNvPicPr>
          <p:nvPr/>
        </p:nvPicPr>
        <p:blipFill>
          <a:blip r:embed="rId2"/>
          <a:srcRect t="3372" b="12323"/>
          <a:stretch>
            <a:fillRect/>
          </a:stretch>
        </p:blipFill>
        <p:spPr>
          <a:xfrm>
            <a:off x="6246812" y="1676400"/>
            <a:ext cx="4800599" cy="2197736"/>
          </a:xfrm>
          <a:prstGeom prst="rect">
            <a:avLst/>
          </a:prstGeom>
        </p:spPr>
      </p:pic>
      <p:pic>
        <p:nvPicPr>
          <p:cNvPr id="9" name="Picture 8">
            <a:extLst>
              <a:ext uri="{FF2B5EF4-FFF2-40B4-BE49-F238E27FC236}">
                <a16:creationId xmlns:a16="http://schemas.microsoft.com/office/drawing/2014/main" id="{35A3E620-449B-A031-6F75-3BAA267BE788}"/>
              </a:ext>
            </a:extLst>
          </p:cNvPr>
          <p:cNvPicPr>
            <a:picLocks noChangeAspect="1"/>
          </p:cNvPicPr>
          <p:nvPr/>
        </p:nvPicPr>
        <p:blipFill>
          <a:blip r:embed="rId3"/>
          <a:srcRect t="8398" b="14705"/>
          <a:stretch>
            <a:fillRect/>
          </a:stretch>
        </p:blipFill>
        <p:spPr>
          <a:xfrm>
            <a:off x="6246812" y="4191000"/>
            <a:ext cx="4876800" cy="2183297"/>
          </a:xfrm>
          <a:prstGeom prst="rect">
            <a:avLst/>
          </a:prstGeom>
        </p:spPr>
      </p:pic>
    </p:spTree>
    <p:extLst>
      <p:ext uri="{BB962C8B-B14F-4D97-AF65-F5344CB8AC3E}">
        <p14:creationId xmlns:p14="http://schemas.microsoft.com/office/powerpoint/2010/main" val="95367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F7379-327D-FF0D-791B-AD98EE137D2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3CD3AE9-E9F4-F314-C4B5-21EA6DCB725A}"/>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a:t>
            </a:r>
            <a:r>
              <a:rPr lang="ar-EG" sz="5400" dirty="0">
                <a:latin typeface="Angsana New" panose="02020603050405020304" pitchFamily="18" charset="-34"/>
                <a:cs typeface="Angsana New" panose="02020603050405020304" pitchFamily="18" charset="-34"/>
              </a:rPr>
              <a:t>1</a:t>
            </a:r>
            <a:endParaRPr lang="en-US" sz="5400" dirty="0">
              <a:latin typeface="Angsana New" panose="02020603050405020304" pitchFamily="18" charset="-34"/>
              <a:cs typeface="Angsana New" panose="02020603050405020304" pitchFamily="18" charset="-34"/>
            </a:endParaRPr>
          </a:p>
        </p:txBody>
      </p:sp>
      <p:sp>
        <p:nvSpPr>
          <p:cNvPr id="14" name="Content Placeholder 13">
            <a:extLst>
              <a:ext uri="{FF2B5EF4-FFF2-40B4-BE49-F238E27FC236}">
                <a16:creationId xmlns:a16="http://schemas.microsoft.com/office/drawing/2014/main" id="{FEAD3AF1-2FB7-5B2E-DDDE-D3773BE2BBF8}"/>
              </a:ext>
            </a:extLst>
          </p:cNvPr>
          <p:cNvSpPr>
            <a:spLocks noGrp="1"/>
          </p:cNvSpPr>
          <p:nvPr>
            <p:ph idx="1"/>
          </p:nvPr>
        </p:nvSpPr>
        <p:spPr>
          <a:xfrm>
            <a:off x="455612" y="1905000"/>
            <a:ext cx="4267200" cy="4267200"/>
          </a:xfrm>
        </p:spPr>
        <p:txBody>
          <a:bodyPr>
            <a:normAutofit/>
          </a:bodyPr>
          <a:lstStyle/>
          <a:p>
            <a:pPr marL="0" indent="0">
              <a:buNone/>
            </a:pPr>
            <a:r>
              <a:rPr lang="en-US" dirty="0">
                <a:latin typeface="Angsana New" panose="02020603050405020304" pitchFamily="18" charset="-34"/>
                <a:cs typeface="Angsana New" panose="02020603050405020304" pitchFamily="18" charset="-34"/>
              </a:rPr>
              <a:t>Prepare an E-R diagram for this Company according to The following Description:</a:t>
            </a:r>
          </a:p>
          <a:p>
            <a:r>
              <a:rPr lang="en-US" sz="2500" dirty="0">
                <a:latin typeface="Angsana New" panose="02020603050405020304" pitchFamily="18" charset="-34"/>
                <a:cs typeface="Angsana New" panose="02020603050405020304" pitchFamily="18" charset="-34"/>
              </a:rPr>
              <a:t>Employees work in several projects each project has </a:t>
            </a:r>
            <a:r>
              <a:rPr lang="en-US" sz="2500" dirty="0" err="1">
                <a:latin typeface="Angsana New" panose="02020603050405020304" pitchFamily="18" charset="-34"/>
                <a:cs typeface="Angsana New" panose="02020603050405020304" pitchFamily="18" charset="-34"/>
              </a:rPr>
              <a:t>Pname</a:t>
            </a:r>
            <a:r>
              <a:rPr lang="en-US" sz="2500" dirty="0">
                <a:latin typeface="Angsana New" panose="02020603050405020304" pitchFamily="18" charset="-34"/>
                <a:cs typeface="Angsana New" panose="02020603050405020304" pitchFamily="18" charset="-34"/>
              </a:rPr>
              <a:t>, </a:t>
            </a:r>
            <a:r>
              <a:rPr lang="en-US" sz="2500" dirty="0" err="1">
                <a:latin typeface="Angsana New" panose="02020603050405020304" pitchFamily="18" charset="-34"/>
                <a:cs typeface="Angsana New" panose="02020603050405020304" pitchFamily="18" charset="-34"/>
              </a:rPr>
              <a:t>PNumber</a:t>
            </a:r>
            <a:r>
              <a:rPr lang="en-US" sz="2500" dirty="0">
                <a:latin typeface="Angsana New" panose="02020603050405020304" pitchFamily="18" charset="-34"/>
                <a:cs typeface="Angsana New" panose="02020603050405020304" pitchFamily="18" charset="-34"/>
              </a:rPr>
              <a:t> as an identifier, Location and City.</a:t>
            </a:r>
          </a:p>
          <a:p>
            <a:r>
              <a:rPr lang="en-US" sz="2500" dirty="0">
                <a:latin typeface="Angsana New" panose="02020603050405020304" pitchFamily="18" charset="-34"/>
                <a:cs typeface="Angsana New" panose="02020603050405020304" pitchFamily="18" charset="-34"/>
              </a:rPr>
              <a:t>Each employee may have a set of dependent; each dependent has Dependent Name (unique), Gender, and Birth Date.</a:t>
            </a:r>
          </a:p>
          <a:p>
            <a:r>
              <a:rPr lang="en-US" sz="2500" dirty="0">
                <a:latin typeface="Angsana New" panose="02020603050405020304" pitchFamily="18" charset="-34"/>
                <a:cs typeface="Angsana New" panose="02020603050405020304" pitchFamily="18" charset="-34"/>
              </a:rPr>
              <a:t>Note: if the employee left the company no needs to store his dependents info</a:t>
            </a:r>
          </a:p>
        </p:txBody>
      </p:sp>
      <p:pic>
        <p:nvPicPr>
          <p:cNvPr id="3" name="Picture 2">
            <a:extLst>
              <a:ext uri="{FF2B5EF4-FFF2-40B4-BE49-F238E27FC236}">
                <a16:creationId xmlns:a16="http://schemas.microsoft.com/office/drawing/2014/main" id="{BEF0DEA2-56BA-3420-39ED-F0630FDD5AD1}"/>
              </a:ext>
            </a:extLst>
          </p:cNvPr>
          <p:cNvPicPr>
            <a:picLocks noChangeAspect="1"/>
          </p:cNvPicPr>
          <p:nvPr/>
        </p:nvPicPr>
        <p:blipFill>
          <a:blip r:embed="rId2"/>
          <a:stretch>
            <a:fillRect/>
          </a:stretch>
        </p:blipFill>
        <p:spPr>
          <a:xfrm>
            <a:off x="4646612" y="1676400"/>
            <a:ext cx="3620004" cy="1625453"/>
          </a:xfrm>
          <a:prstGeom prst="rect">
            <a:avLst/>
          </a:prstGeom>
        </p:spPr>
      </p:pic>
      <p:pic>
        <p:nvPicPr>
          <p:cNvPr id="5" name="Picture 4">
            <a:extLst>
              <a:ext uri="{FF2B5EF4-FFF2-40B4-BE49-F238E27FC236}">
                <a16:creationId xmlns:a16="http://schemas.microsoft.com/office/drawing/2014/main" id="{93833299-418E-A068-EE5B-F884E01D99B8}"/>
              </a:ext>
            </a:extLst>
          </p:cNvPr>
          <p:cNvPicPr>
            <a:picLocks noChangeAspect="1"/>
          </p:cNvPicPr>
          <p:nvPr/>
        </p:nvPicPr>
        <p:blipFill>
          <a:blip r:embed="rId3"/>
          <a:srcRect b="11188"/>
          <a:stretch>
            <a:fillRect/>
          </a:stretch>
        </p:blipFill>
        <p:spPr>
          <a:xfrm>
            <a:off x="8304212" y="1676400"/>
            <a:ext cx="3753334" cy="1626889"/>
          </a:xfrm>
          <a:prstGeom prst="rect">
            <a:avLst/>
          </a:prstGeom>
        </p:spPr>
      </p:pic>
      <p:pic>
        <p:nvPicPr>
          <p:cNvPr id="7" name="Picture 6">
            <a:extLst>
              <a:ext uri="{FF2B5EF4-FFF2-40B4-BE49-F238E27FC236}">
                <a16:creationId xmlns:a16="http://schemas.microsoft.com/office/drawing/2014/main" id="{C893E2A7-A2EB-FD61-10A9-2691DA4A0F16}"/>
              </a:ext>
            </a:extLst>
          </p:cNvPr>
          <p:cNvPicPr>
            <a:picLocks noChangeAspect="1"/>
          </p:cNvPicPr>
          <p:nvPr/>
        </p:nvPicPr>
        <p:blipFill>
          <a:blip r:embed="rId4"/>
          <a:stretch>
            <a:fillRect/>
          </a:stretch>
        </p:blipFill>
        <p:spPr>
          <a:xfrm>
            <a:off x="4951412" y="3352800"/>
            <a:ext cx="6776936" cy="2895600"/>
          </a:xfrm>
          <a:prstGeom prst="rect">
            <a:avLst/>
          </a:prstGeom>
        </p:spPr>
      </p:pic>
    </p:spTree>
    <p:extLst>
      <p:ext uri="{BB962C8B-B14F-4D97-AF65-F5344CB8AC3E}">
        <p14:creationId xmlns:p14="http://schemas.microsoft.com/office/powerpoint/2010/main" val="268277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CACEA-04FC-2638-A13F-3EFBB2B5B0B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2C914CB-B6D6-6552-5CA3-5691F277E1A3}"/>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a:t>
            </a:r>
            <a:r>
              <a:rPr lang="ar-EG" sz="5400" dirty="0">
                <a:latin typeface="Angsana New" panose="02020603050405020304" pitchFamily="18" charset="-34"/>
                <a:cs typeface="Angsana New" panose="02020603050405020304" pitchFamily="18" charset="-34"/>
              </a:rPr>
              <a:t>1</a:t>
            </a:r>
            <a:endParaRPr lang="en-US" sz="5400" dirty="0">
              <a:latin typeface="Angsana New" panose="02020603050405020304" pitchFamily="18" charset="-34"/>
              <a:cs typeface="Angsana New" panose="02020603050405020304" pitchFamily="18" charset="-34"/>
            </a:endParaRPr>
          </a:p>
        </p:txBody>
      </p:sp>
      <p:sp>
        <p:nvSpPr>
          <p:cNvPr id="14" name="Content Placeholder 13">
            <a:extLst>
              <a:ext uri="{FF2B5EF4-FFF2-40B4-BE49-F238E27FC236}">
                <a16:creationId xmlns:a16="http://schemas.microsoft.com/office/drawing/2014/main" id="{D1F253E6-9EC1-52BF-8586-821F34F1CCC3}"/>
              </a:ext>
            </a:extLst>
          </p:cNvPr>
          <p:cNvSpPr>
            <a:spLocks noGrp="1"/>
          </p:cNvSpPr>
          <p:nvPr>
            <p:ph idx="1"/>
          </p:nvPr>
        </p:nvSpPr>
        <p:spPr>
          <a:xfrm>
            <a:off x="455612" y="1905000"/>
            <a:ext cx="4267200" cy="4267200"/>
          </a:xfrm>
        </p:spPr>
        <p:txBody>
          <a:bodyPr>
            <a:normAutofit/>
          </a:bodyPr>
          <a:lstStyle/>
          <a:p>
            <a:pPr marL="0" indent="0">
              <a:buNone/>
            </a:pPr>
            <a:r>
              <a:rPr lang="en-US" dirty="0">
                <a:latin typeface="Angsana New" panose="02020603050405020304" pitchFamily="18" charset="-34"/>
                <a:cs typeface="Angsana New" panose="02020603050405020304" pitchFamily="18" charset="-34"/>
              </a:rPr>
              <a:t>Prepare an E-R diagram for this Company according to The following Description:</a:t>
            </a:r>
          </a:p>
          <a:p>
            <a:r>
              <a:rPr lang="en-US" dirty="0">
                <a:latin typeface="Angsana New" panose="02020603050405020304" pitchFamily="18" charset="-34"/>
                <a:cs typeface="Angsana New" panose="02020603050405020304" pitchFamily="18" charset="-34"/>
              </a:rPr>
              <a:t>For each Department, there is always one employee assigned to manage that Department and each manager has a hiring Date</a:t>
            </a:r>
          </a:p>
          <a:p>
            <a:r>
              <a:rPr lang="en-US" dirty="0">
                <a:latin typeface="Angsana New" panose="02020603050405020304" pitchFamily="18" charset="-34"/>
                <a:cs typeface="Angsana New" panose="02020603050405020304" pitchFamily="18" charset="-34"/>
              </a:rPr>
              <a:t>Department may have employees but employee must work on Only One department</a:t>
            </a:r>
          </a:p>
          <a:p>
            <a:r>
              <a:rPr lang="en-US" dirty="0">
                <a:latin typeface="Angsana New" panose="02020603050405020304" pitchFamily="18" charset="-34"/>
                <a:cs typeface="Angsana New" panose="02020603050405020304" pitchFamily="18" charset="-34"/>
              </a:rPr>
              <a:t>Each department may have a set of projects and each project must assigned to one department</a:t>
            </a:r>
          </a:p>
        </p:txBody>
      </p:sp>
      <p:pic>
        <p:nvPicPr>
          <p:cNvPr id="5" name="Picture 4">
            <a:extLst>
              <a:ext uri="{FF2B5EF4-FFF2-40B4-BE49-F238E27FC236}">
                <a16:creationId xmlns:a16="http://schemas.microsoft.com/office/drawing/2014/main" id="{18262EB3-8B6E-4744-4BC2-E58BC9430E83}"/>
              </a:ext>
            </a:extLst>
          </p:cNvPr>
          <p:cNvPicPr>
            <a:picLocks noChangeAspect="1"/>
          </p:cNvPicPr>
          <p:nvPr/>
        </p:nvPicPr>
        <p:blipFill>
          <a:blip r:embed="rId3"/>
          <a:stretch>
            <a:fillRect/>
          </a:stretch>
        </p:blipFill>
        <p:spPr>
          <a:xfrm>
            <a:off x="7237412" y="3920854"/>
            <a:ext cx="2532155" cy="2479946"/>
          </a:xfrm>
          <a:prstGeom prst="rect">
            <a:avLst/>
          </a:prstGeom>
        </p:spPr>
      </p:pic>
      <p:pic>
        <p:nvPicPr>
          <p:cNvPr id="7" name="Picture 6">
            <a:extLst>
              <a:ext uri="{FF2B5EF4-FFF2-40B4-BE49-F238E27FC236}">
                <a16:creationId xmlns:a16="http://schemas.microsoft.com/office/drawing/2014/main" id="{DE936E1F-396F-B411-5E2E-771CE6F212F9}"/>
              </a:ext>
            </a:extLst>
          </p:cNvPr>
          <p:cNvPicPr>
            <a:picLocks noChangeAspect="1"/>
          </p:cNvPicPr>
          <p:nvPr/>
        </p:nvPicPr>
        <p:blipFill>
          <a:blip r:embed="rId4"/>
          <a:stretch>
            <a:fillRect/>
          </a:stretch>
        </p:blipFill>
        <p:spPr>
          <a:xfrm>
            <a:off x="4839513" y="1644946"/>
            <a:ext cx="7092975" cy="2165054"/>
          </a:xfrm>
          <a:prstGeom prst="rect">
            <a:avLst/>
          </a:prstGeom>
        </p:spPr>
      </p:pic>
    </p:spTree>
    <p:extLst>
      <p:ext uri="{BB962C8B-B14F-4D97-AF65-F5344CB8AC3E}">
        <p14:creationId xmlns:p14="http://schemas.microsoft.com/office/powerpoint/2010/main" val="387899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E6905-E594-0D1C-C8A8-D8845F0F51C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12EDA69-911C-14C1-B509-DCC6C8FEBDDB}"/>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a:t>
            </a:r>
            <a:r>
              <a:rPr lang="ar-EG" sz="5400" dirty="0">
                <a:latin typeface="Angsana New" panose="02020603050405020304" pitchFamily="18" charset="-34"/>
                <a:cs typeface="Angsana New" panose="02020603050405020304" pitchFamily="18" charset="-34"/>
              </a:rPr>
              <a:t>1</a:t>
            </a:r>
            <a:endParaRPr lang="en-US" sz="5400" dirty="0">
              <a:latin typeface="Angsana New" panose="02020603050405020304" pitchFamily="18" charset="-34"/>
              <a:cs typeface="Angsana New" panose="02020603050405020304" pitchFamily="18" charset="-34"/>
            </a:endParaRPr>
          </a:p>
        </p:txBody>
      </p:sp>
      <p:sp>
        <p:nvSpPr>
          <p:cNvPr id="14" name="Content Placeholder 13">
            <a:extLst>
              <a:ext uri="{FF2B5EF4-FFF2-40B4-BE49-F238E27FC236}">
                <a16:creationId xmlns:a16="http://schemas.microsoft.com/office/drawing/2014/main" id="{495DE1E6-8C6A-8176-E51C-8AF9555709CB}"/>
              </a:ext>
            </a:extLst>
          </p:cNvPr>
          <p:cNvSpPr>
            <a:spLocks noGrp="1"/>
          </p:cNvSpPr>
          <p:nvPr>
            <p:ph idx="1"/>
          </p:nvPr>
        </p:nvSpPr>
        <p:spPr>
          <a:xfrm>
            <a:off x="455612" y="1905000"/>
            <a:ext cx="4267200" cy="4267200"/>
          </a:xfrm>
        </p:spPr>
        <p:txBody>
          <a:bodyPr>
            <a:normAutofit/>
          </a:bodyPr>
          <a:lstStyle/>
          <a:p>
            <a:pPr marL="0" indent="0">
              <a:buNone/>
            </a:pPr>
            <a:r>
              <a:rPr lang="en-US" dirty="0">
                <a:latin typeface="Angsana New" panose="02020603050405020304" pitchFamily="18" charset="-34"/>
                <a:cs typeface="Angsana New" panose="02020603050405020304" pitchFamily="18" charset="-34"/>
              </a:rPr>
              <a:t>Prepare an E-R diagram for this Company according to The following Description:</a:t>
            </a:r>
          </a:p>
          <a:p>
            <a:r>
              <a:rPr lang="en-US" dirty="0">
                <a:latin typeface="Angsana New" panose="02020603050405020304" pitchFamily="18" charset="-34"/>
                <a:cs typeface="Angsana New" panose="02020603050405020304" pitchFamily="18" charset="-34"/>
              </a:rPr>
              <a:t>Employees work in several projects and each project has several employees and each employee has a number of working hours in each project</a:t>
            </a:r>
          </a:p>
          <a:p>
            <a:r>
              <a:rPr lang="en-US" dirty="0">
                <a:latin typeface="Angsana New" panose="02020603050405020304" pitchFamily="18" charset="-34"/>
                <a:cs typeface="Angsana New" panose="02020603050405020304" pitchFamily="18" charset="-34"/>
              </a:rPr>
              <a:t>Each employee has a supervisor</a:t>
            </a:r>
          </a:p>
        </p:txBody>
      </p:sp>
      <p:pic>
        <p:nvPicPr>
          <p:cNvPr id="5" name="Picture 4">
            <a:extLst>
              <a:ext uri="{FF2B5EF4-FFF2-40B4-BE49-F238E27FC236}">
                <a16:creationId xmlns:a16="http://schemas.microsoft.com/office/drawing/2014/main" id="{13460C1D-581D-6CC8-4A52-19CE4321A714}"/>
              </a:ext>
            </a:extLst>
          </p:cNvPr>
          <p:cNvPicPr>
            <a:picLocks noChangeAspect="1"/>
          </p:cNvPicPr>
          <p:nvPr/>
        </p:nvPicPr>
        <p:blipFill>
          <a:blip r:embed="rId2"/>
          <a:stretch>
            <a:fillRect/>
          </a:stretch>
        </p:blipFill>
        <p:spPr>
          <a:xfrm>
            <a:off x="5103129" y="1752600"/>
            <a:ext cx="6611134" cy="2560945"/>
          </a:xfrm>
          <a:prstGeom prst="rect">
            <a:avLst/>
          </a:prstGeom>
        </p:spPr>
      </p:pic>
      <p:pic>
        <p:nvPicPr>
          <p:cNvPr id="7" name="Picture 6">
            <a:extLst>
              <a:ext uri="{FF2B5EF4-FFF2-40B4-BE49-F238E27FC236}">
                <a16:creationId xmlns:a16="http://schemas.microsoft.com/office/drawing/2014/main" id="{B6A39E0B-5D92-BDB1-B33D-F4705AF1682D}"/>
              </a:ext>
            </a:extLst>
          </p:cNvPr>
          <p:cNvPicPr>
            <a:picLocks noChangeAspect="1"/>
          </p:cNvPicPr>
          <p:nvPr/>
        </p:nvPicPr>
        <p:blipFill>
          <a:blip r:embed="rId3"/>
          <a:stretch>
            <a:fillRect/>
          </a:stretch>
        </p:blipFill>
        <p:spPr>
          <a:xfrm>
            <a:off x="6387372" y="4343400"/>
            <a:ext cx="4042648" cy="2088608"/>
          </a:xfrm>
          <a:prstGeom prst="rect">
            <a:avLst/>
          </a:prstGeom>
        </p:spPr>
      </p:pic>
    </p:spTree>
    <p:extLst>
      <p:ext uri="{BB962C8B-B14F-4D97-AF65-F5344CB8AC3E}">
        <p14:creationId xmlns:p14="http://schemas.microsoft.com/office/powerpoint/2010/main" val="1123740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DD8F-0F74-F905-A5B8-FB3B8AA3B661}"/>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E3E87217-BE67-4E25-AFCF-B1969B7EC42E}"/>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Final ERD</a:t>
            </a:r>
          </a:p>
        </p:txBody>
      </p:sp>
      <p:pic>
        <p:nvPicPr>
          <p:cNvPr id="5" name="Picture 4">
            <a:extLst>
              <a:ext uri="{FF2B5EF4-FFF2-40B4-BE49-F238E27FC236}">
                <a16:creationId xmlns:a16="http://schemas.microsoft.com/office/drawing/2014/main" id="{2033C2C3-AF99-45CF-86C1-C803B55C849C}"/>
              </a:ext>
            </a:extLst>
          </p:cNvPr>
          <p:cNvPicPr>
            <a:picLocks noChangeAspect="1"/>
          </p:cNvPicPr>
          <p:nvPr/>
        </p:nvPicPr>
        <p:blipFill>
          <a:blip r:embed="rId2" cstate="print">
            <a:extLst>
              <a:ext uri="{28A0092B-C50C-407E-A947-70E740481C1C}">
                <a14:useLocalDpi xmlns:a14="http://schemas.microsoft.com/office/drawing/2010/main" val="0"/>
              </a:ext>
            </a:extLst>
          </a:blip>
          <a:srcRect l="16255" t="8834" r="14978" b="7869"/>
          <a:stretch>
            <a:fillRect/>
          </a:stretch>
        </p:blipFill>
        <p:spPr>
          <a:xfrm>
            <a:off x="1903412" y="1600200"/>
            <a:ext cx="8686800" cy="5212080"/>
          </a:xfrm>
          <a:prstGeom prst="rect">
            <a:avLst/>
          </a:prstGeom>
        </p:spPr>
      </p:pic>
    </p:spTree>
    <p:extLst>
      <p:ext uri="{BB962C8B-B14F-4D97-AF65-F5344CB8AC3E}">
        <p14:creationId xmlns:p14="http://schemas.microsoft.com/office/powerpoint/2010/main" val="2946333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399E8-1AB5-6441-9FA1-8AB775B3B75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5E99FDC-0D37-E106-A5F5-8107547E34A8}"/>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2</a:t>
            </a:r>
          </a:p>
        </p:txBody>
      </p:sp>
      <p:sp>
        <p:nvSpPr>
          <p:cNvPr id="14" name="Content Placeholder 13">
            <a:extLst>
              <a:ext uri="{FF2B5EF4-FFF2-40B4-BE49-F238E27FC236}">
                <a16:creationId xmlns:a16="http://schemas.microsoft.com/office/drawing/2014/main" id="{CA434545-6B0F-D19B-2BF3-48870A2A1DF1}"/>
              </a:ext>
            </a:extLst>
          </p:cNvPr>
          <p:cNvSpPr>
            <a:spLocks noGrp="1"/>
          </p:cNvSpPr>
          <p:nvPr>
            <p:ph idx="1"/>
          </p:nvPr>
        </p:nvSpPr>
        <p:spPr>
          <a:xfrm>
            <a:off x="455612" y="1905000"/>
            <a:ext cx="4572000" cy="4267200"/>
          </a:xfrm>
        </p:spPr>
        <p:txBody>
          <a:bodyPr>
            <a:normAutofit/>
          </a:bodyPr>
          <a:lstStyle/>
          <a:p>
            <a:r>
              <a:rPr lang="en-US" sz="2800" dirty="0">
                <a:latin typeface="Angsana New" panose="02020603050405020304" pitchFamily="18" charset="-34"/>
                <a:cs typeface="Angsana New" panose="02020603050405020304" pitchFamily="18" charset="-34"/>
              </a:rPr>
              <a:t>A General Hospital consists of a number of specialized wards. Each ward is described by </a:t>
            </a:r>
            <a:r>
              <a:rPr lang="en-US" sz="2800" dirty="0" err="1">
                <a:latin typeface="Angsana New" panose="02020603050405020304" pitchFamily="18" charset="-34"/>
                <a:cs typeface="Angsana New" panose="02020603050405020304" pitchFamily="18" charset="-34"/>
              </a:rPr>
              <a:t>ward_id</a:t>
            </a:r>
            <a:r>
              <a:rPr lang="en-US" sz="2800" dirty="0">
                <a:latin typeface="Angsana New" panose="02020603050405020304" pitchFamily="18" charset="-34"/>
                <a:cs typeface="Angsana New" panose="02020603050405020304" pitchFamily="18" charset="-34"/>
              </a:rPr>
              <a:t>, Name</a:t>
            </a:r>
          </a:p>
          <a:p>
            <a:r>
              <a:rPr lang="en-US" sz="2800" dirty="0">
                <a:latin typeface="Angsana New" panose="02020603050405020304" pitchFamily="18" charset="-34"/>
                <a:cs typeface="Angsana New" panose="02020603050405020304" pitchFamily="18" charset="-34"/>
              </a:rPr>
              <a:t>The system records the following details about patients: </a:t>
            </a:r>
            <a:r>
              <a:rPr lang="en-US" sz="2800" dirty="0" err="1">
                <a:latin typeface="Angsana New" panose="02020603050405020304" pitchFamily="18" charset="-34"/>
                <a:cs typeface="Angsana New" panose="02020603050405020304" pitchFamily="18" charset="-34"/>
              </a:rPr>
              <a:t>Patient_id</a:t>
            </a:r>
            <a:r>
              <a:rPr lang="en-US" sz="2800" dirty="0">
                <a:latin typeface="Angsana New" panose="02020603050405020304" pitchFamily="18" charset="-34"/>
                <a:cs typeface="Angsana New" panose="02020603050405020304" pitchFamily="18" charset="-34"/>
              </a:rPr>
              <a:t>, name, </a:t>
            </a:r>
            <a:r>
              <a:rPr lang="en-US" sz="2800" dirty="0" err="1">
                <a:latin typeface="Angsana New" panose="02020603050405020304" pitchFamily="18" charset="-34"/>
                <a:cs typeface="Angsana New" panose="02020603050405020304" pitchFamily="18" charset="-34"/>
              </a:rPr>
              <a:t>Date_Of_Birth</a:t>
            </a:r>
            <a:endParaRPr lang="en-US" sz="2800" dirty="0">
              <a:latin typeface="Angsana New" panose="02020603050405020304" pitchFamily="18" charset="-34"/>
              <a:cs typeface="Angsana New" panose="02020603050405020304" pitchFamily="18" charset="-34"/>
            </a:endParaRPr>
          </a:p>
        </p:txBody>
      </p:sp>
      <p:pic>
        <p:nvPicPr>
          <p:cNvPr id="3" name="Picture 2">
            <a:extLst>
              <a:ext uri="{FF2B5EF4-FFF2-40B4-BE49-F238E27FC236}">
                <a16:creationId xmlns:a16="http://schemas.microsoft.com/office/drawing/2014/main" id="{08D37F0B-B598-2757-4206-E86BE65AB436}"/>
              </a:ext>
            </a:extLst>
          </p:cNvPr>
          <p:cNvPicPr>
            <a:picLocks noChangeAspect="1"/>
          </p:cNvPicPr>
          <p:nvPr/>
        </p:nvPicPr>
        <p:blipFill>
          <a:blip r:embed="rId2"/>
          <a:stretch>
            <a:fillRect/>
          </a:stretch>
        </p:blipFill>
        <p:spPr>
          <a:xfrm>
            <a:off x="6551612" y="1694043"/>
            <a:ext cx="4019898" cy="2324301"/>
          </a:xfrm>
          <a:prstGeom prst="rect">
            <a:avLst/>
          </a:prstGeom>
        </p:spPr>
      </p:pic>
      <p:pic>
        <p:nvPicPr>
          <p:cNvPr id="5" name="Picture 4">
            <a:extLst>
              <a:ext uri="{FF2B5EF4-FFF2-40B4-BE49-F238E27FC236}">
                <a16:creationId xmlns:a16="http://schemas.microsoft.com/office/drawing/2014/main" id="{5966399D-6775-E096-3CBD-B9E348DCDCDF}"/>
              </a:ext>
            </a:extLst>
          </p:cNvPr>
          <p:cNvPicPr>
            <a:picLocks noChangeAspect="1"/>
          </p:cNvPicPr>
          <p:nvPr/>
        </p:nvPicPr>
        <p:blipFill>
          <a:blip r:embed="rId3"/>
          <a:stretch>
            <a:fillRect/>
          </a:stretch>
        </p:blipFill>
        <p:spPr>
          <a:xfrm>
            <a:off x="6151527" y="4114800"/>
            <a:ext cx="4820068" cy="2591025"/>
          </a:xfrm>
          <a:prstGeom prst="rect">
            <a:avLst/>
          </a:prstGeom>
        </p:spPr>
      </p:pic>
    </p:spTree>
    <p:extLst>
      <p:ext uri="{BB962C8B-B14F-4D97-AF65-F5344CB8AC3E}">
        <p14:creationId xmlns:p14="http://schemas.microsoft.com/office/powerpoint/2010/main" val="233351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158D-CC0F-02E5-5E69-2EF596DCCF01}"/>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9F42FB6-322E-5674-B0E6-78317432D90B}"/>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2</a:t>
            </a:r>
          </a:p>
        </p:txBody>
      </p:sp>
      <p:sp>
        <p:nvSpPr>
          <p:cNvPr id="14" name="Content Placeholder 13">
            <a:extLst>
              <a:ext uri="{FF2B5EF4-FFF2-40B4-BE49-F238E27FC236}">
                <a16:creationId xmlns:a16="http://schemas.microsoft.com/office/drawing/2014/main" id="{8F279802-DDA0-8AA9-344F-420C84886DA1}"/>
              </a:ext>
            </a:extLst>
          </p:cNvPr>
          <p:cNvSpPr>
            <a:spLocks noGrp="1"/>
          </p:cNvSpPr>
          <p:nvPr>
            <p:ph idx="1"/>
          </p:nvPr>
        </p:nvSpPr>
        <p:spPr>
          <a:xfrm>
            <a:off x="455612" y="1905000"/>
            <a:ext cx="4572000" cy="4267200"/>
          </a:xfrm>
        </p:spPr>
        <p:txBody>
          <a:bodyPr>
            <a:normAutofit fontScale="92500" lnSpcReduction="10000"/>
          </a:bodyPr>
          <a:lstStyle/>
          <a:p>
            <a:r>
              <a:rPr lang="en-US" sz="2800" dirty="0">
                <a:latin typeface="Angsana New" panose="02020603050405020304" pitchFamily="18" charset="-34"/>
                <a:cs typeface="Angsana New" panose="02020603050405020304" pitchFamily="18" charset="-34"/>
              </a:rPr>
              <a:t>Each ward may host more patients and each patient is hosted by only one ward.</a:t>
            </a:r>
          </a:p>
          <a:p>
            <a:r>
              <a:rPr lang="en-US" sz="2800" dirty="0">
                <a:latin typeface="Angsana New" panose="02020603050405020304" pitchFamily="18" charset="-34"/>
                <a:cs typeface="Angsana New" panose="02020603050405020304" pitchFamily="18" charset="-34"/>
              </a:rPr>
              <a:t>Each patient is assigned to one leading consultant but may be examined by other consultants, if required.</a:t>
            </a:r>
          </a:p>
          <a:p>
            <a:r>
              <a:rPr lang="en-US" sz="2800" dirty="0">
                <a:latin typeface="Angsana New" panose="02020603050405020304" pitchFamily="18" charset="-34"/>
                <a:cs typeface="Angsana New" panose="02020603050405020304" pitchFamily="18" charset="-34"/>
              </a:rPr>
              <a:t>Each consultant may be assigned zero or more patients and may examine zero or more patients.</a:t>
            </a:r>
          </a:p>
          <a:p>
            <a:r>
              <a:rPr lang="en-US" sz="2800" dirty="0">
                <a:latin typeface="Angsana New" panose="02020603050405020304" pitchFamily="18" charset="-34"/>
                <a:cs typeface="Angsana New" panose="02020603050405020304" pitchFamily="18" charset="-34"/>
              </a:rPr>
              <a:t>Consultants are described by </a:t>
            </a:r>
            <a:r>
              <a:rPr lang="en-US" sz="2800" dirty="0" err="1">
                <a:latin typeface="Angsana New" panose="02020603050405020304" pitchFamily="18" charset="-34"/>
                <a:cs typeface="Angsana New" panose="02020603050405020304" pitchFamily="18" charset="-34"/>
              </a:rPr>
              <a:t>Consultant_id</a:t>
            </a:r>
            <a:r>
              <a:rPr lang="en-US" sz="2800" dirty="0">
                <a:latin typeface="Angsana New" panose="02020603050405020304" pitchFamily="18" charset="-34"/>
                <a:cs typeface="Angsana New" panose="02020603050405020304" pitchFamily="18" charset="-34"/>
              </a:rPr>
              <a:t>, Name</a:t>
            </a:r>
          </a:p>
        </p:txBody>
      </p:sp>
      <p:pic>
        <p:nvPicPr>
          <p:cNvPr id="5" name="Picture 4">
            <a:extLst>
              <a:ext uri="{FF2B5EF4-FFF2-40B4-BE49-F238E27FC236}">
                <a16:creationId xmlns:a16="http://schemas.microsoft.com/office/drawing/2014/main" id="{143B428E-88C5-88CD-6760-A6E7F05D6505}"/>
              </a:ext>
            </a:extLst>
          </p:cNvPr>
          <p:cNvPicPr>
            <a:picLocks noChangeAspect="1"/>
          </p:cNvPicPr>
          <p:nvPr/>
        </p:nvPicPr>
        <p:blipFill>
          <a:blip r:embed="rId2"/>
          <a:stretch>
            <a:fillRect/>
          </a:stretch>
        </p:blipFill>
        <p:spPr>
          <a:xfrm>
            <a:off x="5642778" y="4800600"/>
            <a:ext cx="2590959" cy="1727306"/>
          </a:xfrm>
          <a:prstGeom prst="rect">
            <a:avLst/>
          </a:prstGeom>
        </p:spPr>
      </p:pic>
      <p:pic>
        <p:nvPicPr>
          <p:cNvPr id="7" name="Picture 6">
            <a:extLst>
              <a:ext uri="{FF2B5EF4-FFF2-40B4-BE49-F238E27FC236}">
                <a16:creationId xmlns:a16="http://schemas.microsoft.com/office/drawing/2014/main" id="{FDAD17A0-66E5-5641-8273-0E18A3F84FFF}"/>
              </a:ext>
            </a:extLst>
          </p:cNvPr>
          <p:cNvPicPr>
            <a:picLocks noChangeAspect="1"/>
          </p:cNvPicPr>
          <p:nvPr/>
        </p:nvPicPr>
        <p:blipFill>
          <a:blip r:embed="rId3"/>
          <a:stretch>
            <a:fillRect/>
          </a:stretch>
        </p:blipFill>
        <p:spPr>
          <a:xfrm>
            <a:off x="4951412" y="1600200"/>
            <a:ext cx="7058465" cy="1615633"/>
          </a:xfrm>
          <a:prstGeom prst="rect">
            <a:avLst/>
          </a:prstGeom>
        </p:spPr>
      </p:pic>
      <p:pic>
        <p:nvPicPr>
          <p:cNvPr id="11" name="Picture 10">
            <a:extLst>
              <a:ext uri="{FF2B5EF4-FFF2-40B4-BE49-F238E27FC236}">
                <a16:creationId xmlns:a16="http://schemas.microsoft.com/office/drawing/2014/main" id="{97ECF6DF-AFCA-8F23-D748-34B596D2B9DE}"/>
              </a:ext>
            </a:extLst>
          </p:cNvPr>
          <p:cNvPicPr>
            <a:picLocks noChangeAspect="1"/>
          </p:cNvPicPr>
          <p:nvPr/>
        </p:nvPicPr>
        <p:blipFill>
          <a:blip r:embed="rId4"/>
          <a:stretch>
            <a:fillRect/>
          </a:stretch>
        </p:blipFill>
        <p:spPr>
          <a:xfrm>
            <a:off x="8913812" y="3308170"/>
            <a:ext cx="2928351" cy="3498565"/>
          </a:xfrm>
          <a:prstGeom prst="rect">
            <a:avLst/>
          </a:prstGeom>
        </p:spPr>
      </p:pic>
    </p:spTree>
    <p:extLst>
      <p:ext uri="{BB962C8B-B14F-4D97-AF65-F5344CB8AC3E}">
        <p14:creationId xmlns:p14="http://schemas.microsoft.com/office/powerpoint/2010/main" val="271603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423DB-4826-99D1-5254-1C4817B3CAB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3489DBD-51E5-359E-DFF8-9EA2513D8BCF}"/>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2</a:t>
            </a:r>
          </a:p>
        </p:txBody>
      </p:sp>
      <p:sp>
        <p:nvSpPr>
          <p:cNvPr id="14" name="Content Placeholder 13">
            <a:extLst>
              <a:ext uri="{FF2B5EF4-FFF2-40B4-BE49-F238E27FC236}">
                <a16:creationId xmlns:a16="http://schemas.microsoft.com/office/drawing/2014/main" id="{FC069C8B-EF30-949A-F097-06D27E38A13F}"/>
              </a:ext>
            </a:extLst>
          </p:cNvPr>
          <p:cNvSpPr>
            <a:spLocks noGrp="1"/>
          </p:cNvSpPr>
          <p:nvPr>
            <p:ph idx="1"/>
          </p:nvPr>
        </p:nvSpPr>
        <p:spPr>
          <a:xfrm>
            <a:off x="455612" y="1905000"/>
            <a:ext cx="4572000" cy="4267200"/>
          </a:xfrm>
        </p:spPr>
        <p:txBody>
          <a:bodyPr>
            <a:normAutofit/>
          </a:bodyPr>
          <a:lstStyle/>
          <a:p>
            <a:r>
              <a:rPr lang="en-US" sz="2800" dirty="0">
                <a:latin typeface="Angsana New" panose="02020603050405020304" pitchFamily="18" charset="-34"/>
                <a:cs typeface="Angsana New" panose="02020603050405020304" pitchFamily="18" charset="-34"/>
              </a:rPr>
              <a:t>The system has to record all required data each time the Nurse gives a patient a certain drug with specified dosage at certain date and time.</a:t>
            </a:r>
          </a:p>
          <a:p>
            <a:r>
              <a:rPr lang="en-US" sz="2800" dirty="0">
                <a:latin typeface="Angsana New" panose="02020603050405020304" pitchFamily="18" charset="-34"/>
                <a:cs typeface="Angsana New" panose="02020603050405020304" pitchFamily="18" charset="-34"/>
              </a:rPr>
              <a:t>Each ward is under supervision of one nurse and a nurse may supervise only one ward.</a:t>
            </a:r>
          </a:p>
        </p:txBody>
      </p:sp>
      <p:pic>
        <p:nvPicPr>
          <p:cNvPr id="5" name="Picture 4">
            <a:extLst>
              <a:ext uri="{FF2B5EF4-FFF2-40B4-BE49-F238E27FC236}">
                <a16:creationId xmlns:a16="http://schemas.microsoft.com/office/drawing/2014/main" id="{C0FC9A95-6EE6-074F-C803-0EBE63346B5B}"/>
              </a:ext>
            </a:extLst>
          </p:cNvPr>
          <p:cNvPicPr>
            <a:picLocks noChangeAspect="1"/>
          </p:cNvPicPr>
          <p:nvPr/>
        </p:nvPicPr>
        <p:blipFill>
          <a:blip r:embed="rId2"/>
          <a:stretch>
            <a:fillRect/>
          </a:stretch>
        </p:blipFill>
        <p:spPr>
          <a:xfrm>
            <a:off x="4875212" y="2057400"/>
            <a:ext cx="7177225" cy="3635415"/>
          </a:xfrm>
          <a:prstGeom prst="rect">
            <a:avLst/>
          </a:prstGeom>
        </p:spPr>
      </p:pic>
    </p:spTree>
    <p:extLst>
      <p:ext uri="{BB962C8B-B14F-4D97-AF65-F5344CB8AC3E}">
        <p14:creationId xmlns:p14="http://schemas.microsoft.com/office/powerpoint/2010/main" val="218043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35B09-9303-2C07-B034-DE30D2EA680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20BC33B-4CBD-AECE-44BB-6654BC3BC848}"/>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2</a:t>
            </a:r>
          </a:p>
        </p:txBody>
      </p:sp>
      <p:sp>
        <p:nvSpPr>
          <p:cNvPr id="14" name="Content Placeholder 13">
            <a:extLst>
              <a:ext uri="{FF2B5EF4-FFF2-40B4-BE49-F238E27FC236}">
                <a16:creationId xmlns:a16="http://schemas.microsoft.com/office/drawing/2014/main" id="{DBA6C3DC-75FB-53EF-B443-DA581F9075A8}"/>
              </a:ext>
            </a:extLst>
          </p:cNvPr>
          <p:cNvSpPr>
            <a:spLocks noGrp="1"/>
          </p:cNvSpPr>
          <p:nvPr>
            <p:ph idx="1"/>
          </p:nvPr>
        </p:nvSpPr>
        <p:spPr>
          <a:xfrm>
            <a:off x="455612" y="1905000"/>
            <a:ext cx="4572000" cy="4267200"/>
          </a:xfrm>
        </p:spPr>
        <p:txBody>
          <a:bodyPr>
            <a:normAutofit/>
          </a:bodyPr>
          <a:lstStyle/>
          <a:p>
            <a:r>
              <a:rPr lang="en-US" sz="2800" dirty="0">
                <a:latin typeface="Angsana New" panose="02020603050405020304" pitchFamily="18" charset="-34"/>
                <a:cs typeface="Angsana New" panose="02020603050405020304" pitchFamily="18" charset="-34"/>
              </a:rPr>
              <a:t>Each Nurse must serve in one ward and ward can have many nurses.</a:t>
            </a:r>
          </a:p>
          <a:p>
            <a:r>
              <a:rPr lang="en-US" sz="2800" dirty="0">
                <a:latin typeface="Angsana New" panose="02020603050405020304" pitchFamily="18" charset="-34"/>
                <a:cs typeface="Angsana New" panose="02020603050405020304" pitchFamily="18" charset="-34"/>
              </a:rPr>
              <a:t>Data about the nurse is recorded as her name and her number and her address.</a:t>
            </a:r>
          </a:p>
          <a:p>
            <a:r>
              <a:rPr lang="en-US" sz="2800" dirty="0">
                <a:latin typeface="Angsana New" panose="02020603050405020304" pitchFamily="18" charset="-34"/>
                <a:cs typeface="Angsana New" panose="02020603050405020304" pitchFamily="18" charset="-34"/>
              </a:rPr>
              <a:t>A drug has code number, recommended dosage and more than one brand name.</a:t>
            </a:r>
          </a:p>
        </p:txBody>
      </p:sp>
      <p:pic>
        <p:nvPicPr>
          <p:cNvPr id="3" name="Picture 2">
            <a:extLst>
              <a:ext uri="{FF2B5EF4-FFF2-40B4-BE49-F238E27FC236}">
                <a16:creationId xmlns:a16="http://schemas.microsoft.com/office/drawing/2014/main" id="{C02DE551-E4F1-C8C3-795A-36F663111B48}"/>
              </a:ext>
            </a:extLst>
          </p:cNvPr>
          <p:cNvPicPr>
            <a:picLocks noChangeAspect="1"/>
          </p:cNvPicPr>
          <p:nvPr/>
        </p:nvPicPr>
        <p:blipFill>
          <a:blip r:embed="rId2"/>
          <a:stretch>
            <a:fillRect/>
          </a:stretch>
        </p:blipFill>
        <p:spPr>
          <a:xfrm>
            <a:off x="3656012" y="4876800"/>
            <a:ext cx="3657812" cy="1877486"/>
          </a:xfrm>
          <a:prstGeom prst="rect">
            <a:avLst/>
          </a:prstGeom>
        </p:spPr>
      </p:pic>
      <p:pic>
        <p:nvPicPr>
          <p:cNvPr id="5" name="Picture 4">
            <a:extLst>
              <a:ext uri="{FF2B5EF4-FFF2-40B4-BE49-F238E27FC236}">
                <a16:creationId xmlns:a16="http://schemas.microsoft.com/office/drawing/2014/main" id="{1AACA26A-1686-117F-424E-B323C70F0677}"/>
              </a:ext>
            </a:extLst>
          </p:cNvPr>
          <p:cNvPicPr>
            <a:picLocks noChangeAspect="1"/>
          </p:cNvPicPr>
          <p:nvPr/>
        </p:nvPicPr>
        <p:blipFill>
          <a:blip r:embed="rId3"/>
          <a:stretch>
            <a:fillRect/>
          </a:stretch>
        </p:blipFill>
        <p:spPr>
          <a:xfrm>
            <a:off x="7694612" y="4876800"/>
            <a:ext cx="4267200" cy="1879417"/>
          </a:xfrm>
          <a:prstGeom prst="rect">
            <a:avLst/>
          </a:prstGeom>
        </p:spPr>
      </p:pic>
      <p:pic>
        <p:nvPicPr>
          <p:cNvPr id="7" name="Picture 6">
            <a:extLst>
              <a:ext uri="{FF2B5EF4-FFF2-40B4-BE49-F238E27FC236}">
                <a16:creationId xmlns:a16="http://schemas.microsoft.com/office/drawing/2014/main" id="{9A7D4644-ACB1-F40E-B34A-3415F8030078}"/>
              </a:ext>
            </a:extLst>
          </p:cNvPr>
          <p:cNvPicPr>
            <a:picLocks noChangeAspect="1"/>
          </p:cNvPicPr>
          <p:nvPr/>
        </p:nvPicPr>
        <p:blipFill>
          <a:blip r:embed="rId4"/>
          <a:stretch>
            <a:fillRect/>
          </a:stretch>
        </p:blipFill>
        <p:spPr>
          <a:xfrm>
            <a:off x="6170612" y="1627952"/>
            <a:ext cx="4572000" cy="3170717"/>
          </a:xfrm>
          <a:prstGeom prst="rect">
            <a:avLst/>
          </a:prstGeom>
        </p:spPr>
      </p:pic>
    </p:spTree>
    <p:extLst>
      <p:ext uri="{BB962C8B-B14F-4D97-AF65-F5344CB8AC3E}">
        <p14:creationId xmlns:p14="http://schemas.microsoft.com/office/powerpoint/2010/main" val="4205337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F41A-99A9-2776-6A4D-B1354DB1911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AC3C647-5B4B-0BB9-1334-ADDF8BD8E143}"/>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Final ERD</a:t>
            </a:r>
          </a:p>
        </p:txBody>
      </p:sp>
      <p:pic>
        <p:nvPicPr>
          <p:cNvPr id="3" name="Picture 2">
            <a:extLst>
              <a:ext uri="{FF2B5EF4-FFF2-40B4-BE49-F238E27FC236}">
                <a16:creationId xmlns:a16="http://schemas.microsoft.com/office/drawing/2014/main" id="{7327E088-9B30-1E33-221A-B2CB6A054D43}"/>
              </a:ext>
            </a:extLst>
          </p:cNvPr>
          <p:cNvPicPr>
            <a:picLocks noChangeAspect="1"/>
          </p:cNvPicPr>
          <p:nvPr/>
        </p:nvPicPr>
        <p:blipFill>
          <a:blip r:embed="rId2" cstate="print">
            <a:extLst>
              <a:ext uri="{28A0092B-C50C-407E-A947-70E740481C1C}">
                <a14:useLocalDpi xmlns:a14="http://schemas.microsoft.com/office/drawing/2010/main" val="0"/>
              </a:ext>
            </a:extLst>
          </a:blip>
          <a:srcRect l="10615" t="7433" r="10615" b="8684"/>
          <a:stretch>
            <a:fillRect/>
          </a:stretch>
        </p:blipFill>
        <p:spPr>
          <a:xfrm>
            <a:off x="1541081" y="1600200"/>
            <a:ext cx="9601200" cy="5105400"/>
          </a:xfrm>
          <a:prstGeom prst="rect">
            <a:avLst/>
          </a:prstGeom>
        </p:spPr>
      </p:pic>
    </p:spTree>
    <p:extLst>
      <p:ext uri="{BB962C8B-B14F-4D97-AF65-F5344CB8AC3E}">
        <p14:creationId xmlns:p14="http://schemas.microsoft.com/office/powerpoint/2010/main" val="473333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D807-F9C2-D917-CF97-281DE2E6BE0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0F6EBD9-B6C2-1188-AB1A-4332A5759F1C}"/>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3</a:t>
            </a:r>
          </a:p>
        </p:txBody>
      </p:sp>
      <p:sp>
        <p:nvSpPr>
          <p:cNvPr id="14" name="Content Placeholder 13">
            <a:extLst>
              <a:ext uri="{FF2B5EF4-FFF2-40B4-BE49-F238E27FC236}">
                <a16:creationId xmlns:a16="http://schemas.microsoft.com/office/drawing/2014/main" id="{6352BAC4-682C-2B3C-F06E-F5FB818F6AAA}"/>
              </a:ext>
            </a:extLst>
          </p:cNvPr>
          <p:cNvSpPr>
            <a:spLocks noGrp="1"/>
          </p:cNvSpPr>
          <p:nvPr>
            <p:ph idx="1"/>
          </p:nvPr>
        </p:nvSpPr>
        <p:spPr>
          <a:xfrm>
            <a:off x="455612" y="1905000"/>
            <a:ext cx="4572000" cy="4267200"/>
          </a:xfrm>
        </p:spPr>
        <p:txBody>
          <a:bodyPr>
            <a:normAutofit fontScale="92500" lnSpcReduction="10000"/>
          </a:bodyPr>
          <a:lstStyle/>
          <a:p>
            <a:pPr marL="0" indent="0">
              <a:buNone/>
            </a:pPr>
            <a:r>
              <a:rPr lang="en-US" sz="2800" dirty="0">
                <a:latin typeface="Angsana New" panose="02020603050405020304" pitchFamily="18" charset="-34"/>
                <a:cs typeface="Angsana New" panose="02020603050405020304" pitchFamily="18" charset="-34"/>
              </a:rPr>
              <a:t>Major airlines companies that provide passenger services keep database with lots of information on all airlines.</a:t>
            </a:r>
          </a:p>
          <a:p>
            <a:r>
              <a:rPr lang="en-US" sz="2800" dirty="0">
                <a:latin typeface="Angsana New" panose="02020603050405020304" pitchFamily="18" charset="-34"/>
                <a:cs typeface="Angsana New" panose="02020603050405020304" pitchFamily="18" charset="-34"/>
              </a:rPr>
              <a:t>Each airline has an identification number, name and address, name of the contact person and telephone numbers.</a:t>
            </a:r>
          </a:p>
          <a:p>
            <a:r>
              <a:rPr lang="en-US" sz="2800" dirty="0">
                <a:latin typeface="Angsana New" panose="02020603050405020304" pitchFamily="18" charset="-34"/>
                <a:cs typeface="Angsana New" panose="02020603050405020304" pitchFamily="18" charset="-34"/>
              </a:rPr>
              <a:t>Each employee works in Airline Company has an employee identification number, name, address, birthday recorded as (day, month, year), gender, position with the company, and qualifications.</a:t>
            </a:r>
          </a:p>
        </p:txBody>
      </p:sp>
      <p:pic>
        <p:nvPicPr>
          <p:cNvPr id="9" name="Picture 8">
            <a:extLst>
              <a:ext uri="{FF2B5EF4-FFF2-40B4-BE49-F238E27FC236}">
                <a16:creationId xmlns:a16="http://schemas.microsoft.com/office/drawing/2014/main" id="{B9614E7D-0288-5B52-F611-0F1CB30C2A3D}"/>
              </a:ext>
            </a:extLst>
          </p:cNvPr>
          <p:cNvPicPr>
            <a:picLocks noChangeAspect="1"/>
          </p:cNvPicPr>
          <p:nvPr/>
        </p:nvPicPr>
        <p:blipFill>
          <a:blip r:embed="rId2"/>
          <a:stretch>
            <a:fillRect/>
          </a:stretch>
        </p:blipFill>
        <p:spPr>
          <a:xfrm>
            <a:off x="6170612" y="1676400"/>
            <a:ext cx="4592720" cy="5042807"/>
          </a:xfrm>
          <a:prstGeom prst="rect">
            <a:avLst/>
          </a:prstGeom>
        </p:spPr>
      </p:pic>
    </p:spTree>
    <p:extLst>
      <p:ext uri="{BB962C8B-B14F-4D97-AF65-F5344CB8AC3E}">
        <p14:creationId xmlns:p14="http://schemas.microsoft.com/office/powerpoint/2010/main" val="1232047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80837-DDFF-18FC-CB00-814EC05C328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459A2B5-0A71-88B1-1488-51EEC2BF78DC}"/>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3</a:t>
            </a:r>
          </a:p>
        </p:txBody>
      </p:sp>
      <p:sp>
        <p:nvSpPr>
          <p:cNvPr id="14" name="Content Placeholder 13">
            <a:extLst>
              <a:ext uri="{FF2B5EF4-FFF2-40B4-BE49-F238E27FC236}">
                <a16:creationId xmlns:a16="http://schemas.microsoft.com/office/drawing/2014/main" id="{DD69AB98-DCBC-CD9B-7341-8017DF5C7268}"/>
              </a:ext>
            </a:extLst>
          </p:cNvPr>
          <p:cNvSpPr>
            <a:spLocks noGrp="1"/>
          </p:cNvSpPr>
          <p:nvPr>
            <p:ph idx="1"/>
          </p:nvPr>
        </p:nvSpPr>
        <p:spPr>
          <a:xfrm>
            <a:off x="455612" y="1905000"/>
            <a:ext cx="4572000" cy="4267200"/>
          </a:xfrm>
        </p:spPr>
        <p:txBody>
          <a:bodyPr>
            <a:normAutofit lnSpcReduction="10000"/>
          </a:bodyPr>
          <a:lstStyle/>
          <a:p>
            <a:r>
              <a:rPr lang="en-US" sz="2800" dirty="0">
                <a:latin typeface="Angsana New" panose="02020603050405020304" pitchFamily="18" charset="-34"/>
                <a:cs typeface="Angsana New" panose="02020603050405020304" pitchFamily="18" charset="-34"/>
              </a:rPr>
              <a:t>Each airline owns different aircrafts. For each aircraft an aircraft identification number, capacity, and model is recorded.</a:t>
            </a:r>
          </a:p>
          <a:p>
            <a:r>
              <a:rPr lang="en-US" sz="2800" dirty="0">
                <a:latin typeface="Angsana New" panose="02020603050405020304" pitchFamily="18" charset="-34"/>
                <a:cs typeface="Angsana New" panose="02020603050405020304" pitchFamily="18" charset="-34"/>
              </a:rPr>
              <a:t>The aircrafts are assigned to different routes. An aircraft can work on more than one route and a route has many aircrafts going on it. Some information as number of passengers, price per passenger, departure date time, arrival date time and the time that aircraft spent in travelling the route are recorded.</a:t>
            </a:r>
          </a:p>
        </p:txBody>
      </p:sp>
      <p:pic>
        <p:nvPicPr>
          <p:cNvPr id="3" name="Picture 2">
            <a:extLst>
              <a:ext uri="{FF2B5EF4-FFF2-40B4-BE49-F238E27FC236}">
                <a16:creationId xmlns:a16="http://schemas.microsoft.com/office/drawing/2014/main" id="{9F44EE77-1CA3-75B9-F5A9-D96FF7E09655}"/>
              </a:ext>
            </a:extLst>
          </p:cNvPr>
          <p:cNvPicPr>
            <a:picLocks noChangeAspect="1"/>
          </p:cNvPicPr>
          <p:nvPr/>
        </p:nvPicPr>
        <p:blipFill>
          <a:blip r:embed="rId2"/>
          <a:stretch>
            <a:fillRect/>
          </a:stretch>
        </p:blipFill>
        <p:spPr>
          <a:xfrm>
            <a:off x="5180012" y="1579515"/>
            <a:ext cx="6216002" cy="1679035"/>
          </a:xfrm>
          <a:prstGeom prst="rect">
            <a:avLst/>
          </a:prstGeom>
        </p:spPr>
      </p:pic>
      <p:pic>
        <p:nvPicPr>
          <p:cNvPr id="5" name="Picture 4">
            <a:extLst>
              <a:ext uri="{FF2B5EF4-FFF2-40B4-BE49-F238E27FC236}">
                <a16:creationId xmlns:a16="http://schemas.microsoft.com/office/drawing/2014/main" id="{19956E57-BB49-65D8-A7E8-FD107C284DCF}"/>
              </a:ext>
            </a:extLst>
          </p:cNvPr>
          <p:cNvPicPr>
            <a:picLocks noChangeAspect="1"/>
          </p:cNvPicPr>
          <p:nvPr/>
        </p:nvPicPr>
        <p:blipFill>
          <a:blip r:embed="rId3"/>
          <a:stretch>
            <a:fillRect/>
          </a:stretch>
        </p:blipFill>
        <p:spPr>
          <a:xfrm>
            <a:off x="7085012" y="3295203"/>
            <a:ext cx="2886307" cy="3403566"/>
          </a:xfrm>
          <a:prstGeom prst="rect">
            <a:avLst/>
          </a:prstGeom>
        </p:spPr>
      </p:pic>
    </p:spTree>
    <p:extLst>
      <p:ext uri="{BB962C8B-B14F-4D97-AF65-F5344CB8AC3E}">
        <p14:creationId xmlns:p14="http://schemas.microsoft.com/office/powerpoint/2010/main" val="485211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3A1F4-802F-B79E-75C1-1AAC90D0439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C44C243-94EA-0632-03C1-0B605A15B0AB}"/>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3</a:t>
            </a:r>
          </a:p>
        </p:txBody>
      </p:sp>
      <p:sp>
        <p:nvSpPr>
          <p:cNvPr id="14" name="Content Placeholder 13">
            <a:extLst>
              <a:ext uri="{FF2B5EF4-FFF2-40B4-BE49-F238E27FC236}">
                <a16:creationId xmlns:a16="http://schemas.microsoft.com/office/drawing/2014/main" id="{7226A3EE-2BAA-48E1-D2A2-3CBF11C5F531}"/>
              </a:ext>
            </a:extLst>
          </p:cNvPr>
          <p:cNvSpPr>
            <a:spLocks noGrp="1"/>
          </p:cNvSpPr>
          <p:nvPr>
            <p:ph idx="1"/>
          </p:nvPr>
        </p:nvSpPr>
        <p:spPr>
          <a:xfrm>
            <a:off x="455612" y="1905000"/>
            <a:ext cx="4800600" cy="4267200"/>
          </a:xfrm>
        </p:spPr>
        <p:txBody>
          <a:bodyPr>
            <a:normAutofit/>
          </a:bodyPr>
          <a:lstStyle/>
          <a:p>
            <a:r>
              <a:rPr lang="en-US" sz="2800" dirty="0">
                <a:latin typeface="Angsana New" panose="02020603050405020304" pitchFamily="18" charset="-34"/>
                <a:cs typeface="Angsana New" panose="02020603050405020304" pitchFamily="18" charset="-34"/>
              </a:rPr>
              <a:t>Each route has a route identification number, origin, destination, </a:t>
            </a:r>
            <a:r>
              <a:rPr lang="en-US" sz="2800" dirty="0" err="1">
                <a:latin typeface="Angsana New" panose="02020603050405020304" pitchFamily="18" charset="-34"/>
                <a:cs typeface="Angsana New" panose="02020603050405020304" pitchFamily="18" charset="-34"/>
              </a:rPr>
              <a:t>distance,classification</a:t>
            </a:r>
            <a:r>
              <a:rPr lang="en-US" sz="2800" dirty="0">
                <a:latin typeface="Angsana New" panose="02020603050405020304" pitchFamily="18" charset="-34"/>
                <a:cs typeface="Angsana New" panose="02020603050405020304" pitchFamily="18" charset="-34"/>
              </a:rPr>
              <a:t> (e.g. domestic or international route).</a:t>
            </a:r>
          </a:p>
          <a:p>
            <a:r>
              <a:rPr lang="en-US" sz="2800" dirty="0">
                <a:latin typeface="Angsana New" panose="02020603050405020304" pitchFamily="18" charset="-34"/>
                <a:cs typeface="Angsana New" panose="02020603050405020304" pitchFamily="18" charset="-34"/>
              </a:rPr>
              <a:t>Each aircraft has its own crew (major pilot, assistant pilot and two hostesses), the aircraft crew not stored as employee. Each crew is assigned to only one aircraft.</a:t>
            </a:r>
          </a:p>
        </p:txBody>
      </p:sp>
      <p:pic>
        <p:nvPicPr>
          <p:cNvPr id="3" name="Picture 2">
            <a:extLst>
              <a:ext uri="{FF2B5EF4-FFF2-40B4-BE49-F238E27FC236}">
                <a16:creationId xmlns:a16="http://schemas.microsoft.com/office/drawing/2014/main" id="{F8515450-1222-5039-DBC7-0C352AC3EA7C}"/>
              </a:ext>
            </a:extLst>
          </p:cNvPr>
          <p:cNvPicPr>
            <a:picLocks noChangeAspect="1"/>
          </p:cNvPicPr>
          <p:nvPr/>
        </p:nvPicPr>
        <p:blipFill>
          <a:blip r:embed="rId2"/>
          <a:stretch>
            <a:fillRect/>
          </a:stretch>
        </p:blipFill>
        <p:spPr>
          <a:xfrm>
            <a:off x="6246812" y="1600200"/>
            <a:ext cx="4237140" cy="1772137"/>
          </a:xfrm>
          <a:prstGeom prst="rect">
            <a:avLst/>
          </a:prstGeom>
        </p:spPr>
      </p:pic>
      <p:pic>
        <p:nvPicPr>
          <p:cNvPr id="5" name="Picture 4">
            <a:extLst>
              <a:ext uri="{FF2B5EF4-FFF2-40B4-BE49-F238E27FC236}">
                <a16:creationId xmlns:a16="http://schemas.microsoft.com/office/drawing/2014/main" id="{AB8BBC4F-C6D1-F0D9-CA21-5CA5F5888ABA}"/>
              </a:ext>
            </a:extLst>
          </p:cNvPr>
          <p:cNvPicPr>
            <a:picLocks noChangeAspect="1"/>
          </p:cNvPicPr>
          <p:nvPr/>
        </p:nvPicPr>
        <p:blipFill>
          <a:blip r:embed="rId3"/>
          <a:srcRect b="4261"/>
          <a:stretch>
            <a:fillRect/>
          </a:stretch>
        </p:blipFill>
        <p:spPr>
          <a:xfrm>
            <a:off x="7161212" y="3404207"/>
            <a:ext cx="2704654" cy="3429000"/>
          </a:xfrm>
          <a:prstGeom prst="rect">
            <a:avLst/>
          </a:prstGeom>
        </p:spPr>
      </p:pic>
    </p:spTree>
    <p:extLst>
      <p:ext uri="{BB962C8B-B14F-4D97-AF65-F5344CB8AC3E}">
        <p14:creationId xmlns:p14="http://schemas.microsoft.com/office/powerpoint/2010/main" val="1726715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4AB90-1B3F-3AC2-AB4D-C99A2E210BB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E359ED7-9B50-6D8F-112A-F3650CA8E2B5}"/>
              </a:ext>
            </a:extLst>
          </p:cNvPr>
          <p:cNvSpPr>
            <a:spLocks noGrp="1"/>
          </p:cNvSpPr>
          <p:nvPr>
            <p:ph type="title"/>
          </p:nvPr>
        </p:nvSpPr>
        <p:spPr>
          <a:xfrm>
            <a:off x="1522413" y="457200"/>
            <a:ext cx="9143998" cy="1020762"/>
          </a:xfrm>
        </p:spPr>
        <p:txBody>
          <a:bodyPr>
            <a:normAutofit/>
          </a:bodyPr>
          <a:lstStyle/>
          <a:p>
            <a:r>
              <a:rPr lang="en-US" sz="5400" dirty="0">
                <a:latin typeface="Angsana New" panose="02020603050405020304" pitchFamily="18" charset="-34"/>
                <a:cs typeface="Angsana New" panose="02020603050405020304" pitchFamily="18" charset="-34"/>
              </a:rPr>
              <a:t>Case 3</a:t>
            </a:r>
          </a:p>
        </p:txBody>
      </p:sp>
      <p:sp>
        <p:nvSpPr>
          <p:cNvPr id="14" name="Content Placeholder 13">
            <a:extLst>
              <a:ext uri="{FF2B5EF4-FFF2-40B4-BE49-F238E27FC236}">
                <a16:creationId xmlns:a16="http://schemas.microsoft.com/office/drawing/2014/main" id="{4212201D-B5C0-CA89-CBEC-389EABB7649B}"/>
              </a:ext>
            </a:extLst>
          </p:cNvPr>
          <p:cNvSpPr>
            <a:spLocks noGrp="1"/>
          </p:cNvSpPr>
          <p:nvPr>
            <p:ph idx="1"/>
          </p:nvPr>
        </p:nvSpPr>
        <p:spPr>
          <a:xfrm>
            <a:off x="455612" y="1905000"/>
            <a:ext cx="4267200" cy="4267200"/>
          </a:xfrm>
        </p:spPr>
        <p:txBody>
          <a:bodyPr>
            <a:normAutofit/>
          </a:bodyPr>
          <a:lstStyle/>
          <a:p>
            <a:r>
              <a:rPr lang="en-US" sz="2800" dirty="0">
                <a:latin typeface="Angsana New" panose="02020603050405020304" pitchFamily="18" charset="-34"/>
                <a:cs typeface="Angsana New" panose="02020603050405020304" pitchFamily="18" charset="-34"/>
              </a:rPr>
              <a:t>Each airline keeps information about their buy/sell transactions (for example selling an airplane ticket is a sell transaction, paying for maintenance is a buy transaction). Each transaction has a transaction identification number, date, description, and amount of money paid/received.</a:t>
            </a:r>
          </a:p>
        </p:txBody>
      </p:sp>
      <p:pic>
        <p:nvPicPr>
          <p:cNvPr id="3" name="Picture 2">
            <a:extLst>
              <a:ext uri="{FF2B5EF4-FFF2-40B4-BE49-F238E27FC236}">
                <a16:creationId xmlns:a16="http://schemas.microsoft.com/office/drawing/2014/main" id="{AF7FCA12-86E9-B98F-3FDA-80E1862ADDD1}"/>
              </a:ext>
            </a:extLst>
          </p:cNvPr>
          <p:cNvPicPr>
            <a:picLocks noChangeAspect="1"/>
          </p:cNvPicPr>
          <p:nvPr/>
        </p:nvPicPr>
        <p:blipFill>
          <a:blip r:embed="rId2"/>
          <a:stretch>
            <a:fillRect/>
          </a:stretch>
        </p:blipFill>
        <p:spPr>
          <a:xfrm>
            <a:off x="4799012" y="2286000"/>
            <a:ext cx="6744284" cy="2427180"/>
          </a:xfrm>
          <a:prstGeom prst="rect">
            <a:avLst/>
          </a:prstGeom>
        </p:spPr>
      </p:pic>
    </p:spTree>
    <p:extLst>
      <p:ext uri="{BB962C8B-B14F-4D97-AF65-F5344CB8AC3E}">
        <p14:creationId xmlns:p14="http://schemas.microsoft.com/office/powerpoint/2010/main" val="856356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399E2-2C49-9553-F88F-5CB23765FDEF}"/>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899FED1-7DFB-8D6B-1134-8A4466DD1C4C}"/>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Final ERD</a:t>
            </a:r>
          </a:p>
        </p:txBody>
      </p:sp>
      <p:pic>
        <p:nvPicPr>
          <p:cNvPr id="5" name="Picture 4">
            <a:extLst>
              <a:ext uri="{FF2B5EF4-FFF2-40B4-BE49-F238E27FC236}">
                <a16:creationId xmlns:a16="http://schemas.microsoft.com/office/drawing/2014/main" id="{33EA5FC1-0FF5-5168-79B0-A1CD22175C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9402" y="1600200"/>
            <a:ext cx="8090019" cy="5115357"/>
          </a:xfrm>
          <a:prstGeom prst="rect">
            <a:avLst/>
          </a:prstGeom>
        </p:spPr>
      </p:pic>
    </p:spTree>
    <p:extLst>
      <p:ext uri="{BB962C8B-B14F-4D97-AF65-F5344CB8AC3E}">
        <p14:creationId xmlns:p14="http://schemas.microsoft.com/office/powerpoint/2010/main" val="1258133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2A237DEB9D22E4DB1BA747308CD6572" ma:contentTypeVersion="4" ma:contentTypeDescription="Create a new document." ma:contentTypeScope="" ma:versionID="af6932d0ce23f7cd5ec313e1567d0dc2">
  <xsd:schema xmlns:xsd="http://www.w3.org/2001/XMLSchema" xmlns:xs="http://www.w3.org/2001/XMLSchema" xmlns:p="http://schemas.microsoft.com/office/2006/metadata/properties" xmlns:ns3="8532d950-1ec5-40ae-824c-e0f80976e899" targetNamespace="http://schemas.microsoft.com/office/2006/metadata/properties" ma:root="true" ma:fieldsID="b1369fe30ab7a65f8b736468c8a5103b" ns3:_="">
    <xsd:import namespace="8532d950-1ec5-40ae-824c-e0f80976e89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32d950-1ec5-40ae-824c-e0f80976e89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FF4C13-3B74-416A-93DB-207A0877F786}">
  <ds:schemaRefs>
    <ds:schemaRef ds:uri="http://schemas.microsoft.com/sharepoint/v3/contenttype/forms"/>
  </ds:schemaRefs>
</ds:datastoreItem>
</file>

<file path=customXml/itemProps2.xml><?xml version="1.0" encoding="utf-8"?>
<ds:datastoreItem xmlns:ds="http://schemas.openxmlformats.org/officeDocument/2006/customXml" ds:itemID="{DBBEA58C-79F5-4C64-99C4-1A283223A9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32d950-1ec5-40ae-824c-e0f80976e8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1FAF9EB-C1C8-4C5D-8C89-1B6D78416FE2}">
  <ds:schemaRefs>
    <ds:schemaRef ds:uri="http://purl.org/dc/dcmitype/"/>
    <ds:schemaRef ds:uri="8532d950-1ec5-40ae-824c-e0f80976e899"/>
    <ds:schemaRef ds:uri="http://schemas.microsoft.com/office/2006/documentManagement/types"/>
    <ds:schemaRef ds:uri="http://schemas.microsoft.com/office/infopath/2007/PartnerControls"/>
    <ds:schemaRef ds:uri="http://purl.org/dc/terms/"/>
    <ds:schemaRef ds:uri="http://purl.org/dc/elements/1.1/"/>
    <ds:schemaRef ds:uri="http://www.w3.org/XML/1998/namespac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Chalkboard education presentation (widescreen)</Template>
  <TotalTime>1072</TotalTime>
  <Words>756</Words>
  <Application>Microsoft Office PowerPoint</Application>
  <PresentationFormat>Custom</PresentationFormat>
  <Paragraphs>54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Angsana New</vt:lpstr>
      <vt:lpstr>Arial</vt:lpstr>
      <vt:lpstr>Consolas</vt:lpstr>
      <vt:lpstr>Corbel</vt:lpstr>
      <vt:lpstr>Chalkboard 16x9</vt:lpstr>
      <vt:lpstr>Adham Ashraf Saeed</vt:lpstr>
      <vt:lpstr>Case 1</vt:lpstr>
      <vt:lpstr>Case 1</vt:lpstr>
      <vt:lpstr>Case 1</vt:lpstr>
      <vt:lpstr>Case 1</vt:lpstr>
      <vt:lpstr>Case 1</vt:lpstr>
      <vt:lpstr>Final ERD</vt:lpstr>
      <vt:lpstr>Case 2</vt:lpstr>
      <vt:lpstr>Case 2</vt:lpstr>
      <vt:lpstr>Case 2</vt:lpstr>
      <vt:lpstr>Case 2</vt:lpstr>
      <vt:lpstr>Final ERD</vt:lpstr>
      <vt:lpstr>Case 3</vt:lpstr>
      <vt:lpstr>Case 3</vt:lpstr>
      <vt:lpstr>Case 3</vt:lpstr>
      <vt:lpstr>Case 3</vt:lpstr>
      <vt:lpstr>Final ERD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Adham Ashraf Saeed</dc:creator>
  <cp:lastModifiedBy>Adham Ashraf Saeed</cp:lastModifiedBy>
  <cp:revision>9</cp:revision>
  <dcterms:created xsi:type="dcterms:W3CDTF">2026-06-07T22:28:29Z</dcterms:created>
  <dcterms:modified xsi:type="dcterms:W3CDTF">2026-06-30T16:20:41Z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0x010100D2A237DEB9D22E4DB1BA747308CD6572</vt:lpwstr>
  </property>
</Properties>
</file>