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handoutMasterIdLst>
    <p:handoutMasterId r:id="rId19"/>
  </p:handoutMasterIdLst>
  <p:sldIdLst>
    <p:sldId id="256" r:id="rId5"/>
    <p:sldId id="257" r:id="rId6"/>
    <p:sldId id="267" r:id="rId7"/>
    <p:sldId id="290" r:id="rId8"/>
    <p:sldId id="291" r:id="rId9"/>
    <p:sldId id="292" r:id="rId10"/>
    <p:sldId id="293" r:id="rId11"/>
    <p:sldId id="294" r:id="rId12"/>
    <p:sldId id="295" r:id="rId13"/>
    <p:sldId id="296" r:id="rId14"/>
    <p:sldId id="297" r:id="rId15"/>
    <p:sldId id="298" r:id="rId16"/>
    <p:sldId id="299" r:id="rId1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B644CE-AA37-480B-BC62-CE034E3BC579}" v="10" dt="2026-07-09T21:26:29.106"/>
  </p1510:revLst>
</p1510:revInfo>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599" autoAdjust="0"/>
  </p:normalViewPr>
  <p:slideViewPr>
    <p:cSldViewPr>
      <p:cViewPr varScale="1">
        <p:scale>
          <a:sx n="94" d="100"/>
          <a:sy n="94" d="100"/>
        </p:scale>
        <p:origin x="216" y="34"/>
      </p:cViewPr>
      <p:guideLst>
        <p:guide pos="3839"/>
        <p:guide orient="horz" pos="2160"/>
      </p:guideLst>
    </p:cSldViewPr>
  </p:slideViewPr>
  <p:notesTextViewPr>
    <p:cViewPr>
      <p:scale>
        <a:sx n="1" d="1"/>
        <a:sy n="1" d="1"/>
      </p:scale>
      <p:origin x="0" y="0"/>
    </p:cViewPr>
  </p:notesTextViewPr>
  <p:notesViewPr>
    <p:cSldViewPr showGuides="1">
      <p:cViewPr varScale="1">
        <p:scale>
          <a:sx n="52" d="100"/>
          <a:sy n="52" d="100"/>
        </p:scale>
        <p:origin x="2664" y="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7/9/2026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7/9/2026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9AFE8FB1-0A7A-443E-AAF7-31D4FA1AA312}" type="datetimeFigureOut">
              <a:rPr lang="en-US"/>
              <a:t>7/9/2026</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7/9/2026</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7/9/2026</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9AFE8FB1-0A7A-443E-AAF7-31D4FA1AA312}" type="datetimeFigureOut">
              <a:rPr lang="en-US"/>
              <a:t>7/9/2026</a:t>
            </a:fld>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9AFE8FB1-0A7A-443E-AAF7-31D4FA1AA312}" type="datetimeFigureOut">
              <a:rPr lang="en-US"/>
              <a:t>7/9/2026</a:t>
            </a:fld>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9AFE8FB1-0A7A-443E-AAF7-31D4FA1AA312}" type="datetimeFigureOut">
              <a:rPr lang="en-US"/>
              <a:t>7/9/2026</a:t>
            </a:fld>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7/9/2026</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7/9/2026</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7/9/2026</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7/9/2026</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9AFE8FB1-0A7A-443E-AAF7-31D4FA1AA312}" type="datetimeFigureOut">
              <a:rPr lang="en-US" smtClean="0"/>
              <a:pPr/>
              <a:t>7/9/2026</a:t>
            </a:fld>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8800" dirty="0">
                <a:latin typeface="Angsana New" panose="02020603050405020304" pitchFamily="18" charset="-34"/>
                <a:cs typeface="Angsana New" panose="02020603050405020304" pitchFamily="18" charset="-34"/>
              </a:rPr>
              <a:t>Adham Ashraf Saeed</a:t>
            </a:r>
          </a:p>
        </p:txBody>
      </p:sp>
      <p:sp>
        <p:nvSpPr>
          <p:cNvPr id="3" name="Subtitle 2"/>
          <p:cNvSpPr>
            <a:spLocks noGrp="1"/>
          </p:cNvSpPr>
          <p:nvPr>
            <p:ph type="subTitle" idx="1"/>
          </p:nvPr>
        </p:nvSpPr>
        <p:spPr>
          <a:xfrm>
            <a:off x="1522414" y="4800600"/>
            <a:ext cx="9143999" cy="1066800"/>
          </a:xfrm>
        </p:spPr>
        <p:txBody>
          <a:bodyPr>
            <a:normAutofit/>
          </a:bodyPr>
          <a:lstStyle/>
          <a:p>
            <a:pPr>
              <a:spcBef>
                <a:spcPct val="0"/>
              </a:spcBef>
            </a:pPr>
            <a:r>
              <a:rPr lang="en-US" sz="4000" dirty="0">
                <a:solidFill>
                  <a:schemeClr val="tx1"/>
                </a:solidFill>
                <a:latin typeface="Angsana New" panose="02020603050405020304" pitchFamily="18" charset="-34"/>
                <a:ea typeface="+mj-ea"/>
                <a:cs typeface="Angsana New" panose="02020603050405020304" pitchFamily="18" charset="-34"/>
              </a:rPr>
              <a:t>Assignment 2 (Mapping &amp; Normalization)</a:t>
            </a:r>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Problem 1</a:t>
            </a:r>
          </a:p>
        </p:txBody>
      </p:sp>
      <p:sp>
        <p:nvSpPr>
          <p:cNvPr id="14" name="Content Placeholder 13"/>
          <p:cNvSpPr>
            <a:spLocks noGrp="1"/>
          </p:cNvSpPr>
          <p:nvPr>
            <p:ph idx="1"/>
          </p:nvPr>
        </p:nvSpPr>
        <p:spPr>
          <a:xfrm>
            <a:off x="1217612" y="1905000"/>
            <a:ext cx="10210800" cy="4724400"/>
          </a:xfrm>
        </p:spPr>
        <p:txBody>
          <a:bodyPr>
            <a:normAutofit fontScale="92500" lnSpcReduction="20000"/>
          </a:bodyPr>
          <a:lstStyle/>
          <a:p>
            <a:r>
              <a:rPr lang="en-US" sz="4800" dirty="0" err="1">
                <a:latin typeface="Angsana New" panose="02020603050405020304" pitchFamily="18" charset="-34"/>
                <a:cs typeface="Angsana New" panose="02020603050405020304" pitchFamily="18" charset="-34"/>
              </a:rPr>
              <a:t>DreamHome</a:t>
            </a:r>
            <a:r>
              <a:rPr lang="en-US" sz="4800" dirty="0">
                <a:latin typeface="Angsana New" panose="02020603050405020304" pitchFamily="18" charset="-34"/>
                <a:cs typeface="Angsana New" panose="02020603050405020304" pitchFamily="18" charset="-34"/>
              </a:rPr>
              <a:t> Company is designed to connect individuals interested in renting properties with their owners. It’s important to note that the term ‘Rent’ refers to the value assigned to the property, determined through negotiation between the customer and the owner.</a:t>
            </a:r>
          </a:p>
          <a:p>
            <a:r>
              <a:rPr lang="en-US" sz="4800" dirty="0">
                <a:latin typeface="Angsana New" panose="02020603050405020304" pitchFamily="18" charset="-34"/>
                <a:cs typeface="Angsana New" panose="02020603050405020304" pitchFamily="18" charset="-34"/>
              </a:rPr>
              <a:t>To achieve the (3NF) using the provided data begin by detailing the steps for your answer. The primary key should be the Customer number. Exclude the Page number and Date from the bill shown below.</a:t>
            </a:r>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F66B-3294-7D17-7E9E-D2A8286A80BF}"/>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14FFDE03-1E80-BB58-3992-A74951F9F168}"/>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Data</a:t>
            </a:r>
          </a:p>
        </p:txBody>
      </p:sp>
      <p:pic>
        <p:nvPicPr>
          <p:cNvPr id="6" name="Picture 5">
            <a:extLst>
              <a:ext uri="{FF2B5EF4-FFF2-40B4-BE49-F238E27FC236}">
                <a16:creationId xmlns:a16="http://schemas.microsoft.com/office/drawing/2014/main" id="{34CDCBCD-9EAB-5E56-1659-98EBDA874E16}"/>
              </a:ext>
            </a:extLst>
          </p:cNvPr>
          <p:cNvPicPr>
            <a:picLocks noChangeAspect="1"/>
          </p:cNvPicPr>
          <p:nvPr/>
        </p:nvPicPr>
        <p:blipFill>
          <a:blip r:embed="rId2"/>
          <a:stretch>
            <a:fillRect/>
          </a:stretch>
        </p:blipFill>
        <p:spPr>
          <a:xfrm>
            <a:off x="3351212" y="1828800"/>
            <a:ext cx="5227773" cy="2171888"/>
          </a:xfrm>
          <a:prstGeom prst="rect">
            <a:avLst/>
          </a:prstGeom>
        </p:spPr>
      </p:pic>
      <p:pic>
        <p:nvPicPr>
          <p:cNvPr id="8" name="Picture 7">
            <a:extLst>
              <a:ext uri="{FF2B5EF4-FFF2-40B4-BE49-F238E27FC236}">
                <a16:creationId xmlns:a16="http://schemas.microsoft.com/office/drawing/2014/main" id="{253AB345-8C0C-8C76-137B-978AB362AD4D}"/>
              </a:ext>
            </a:extLst>
          </p:cNvPr>
          <p:cNvPicPr>
            <a:picLocks noChangeAspect="1"/>
          </p:cNvPicPr>
          <p:nvPr/>
        </p:nvPicPr>
        <p:blipFill>
          <a:blip r:embed="rId3"/>
          <a:stretch>
            <a:fillRect/>
          </a:stretch>
        </p:blipFill>
        <p:spPr>
          <a:xfrm>
            <a:off x="2375529" y="4388102"/>
            <a:ext cx="7437765" cy="1931837"/>
          </a:xfrm>
          <a:prstGeom prst="rect">
            <a:avLst/>
          </a:prstGeom>
        </p:spPr>
      </p:pic>
    </p:spTree>
    <p:extLst>
      <p:ext uri="{BB962C8B-B14F-4D97-AF65-F5344CB8AC3E}">
        <p14:creationId xmlns:p14="http://schemas.microsoft.com/office/powerpoint/2010/main" val="953674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9862E-9AC3-1830-51C9-1716524385EE}"/>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AF9613C4-50AA-9EF2-8464-0DD72BFAA8B3}"/>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1NF</a:t>
            </a:r>
          </a:p>
        </p:txBody>
      </p:sp>
      <p:pic>
        <p:nvPicPr>
          <p:cNvPr id="3" name="Picture 2">
            <a:extLst>
              <a:ext uri="{FF2B5EF4-FFF2-40B4-BE49-F238E27FC236}">
                <a16:creationId xmlns:a16="http://schemas.microsoft.com/office/drawing/2014/main" id="{3F2504BD-BFC1-989C-74AA-E81BE315E24B}"/>
              </a:ext>
            </a:extLst>
          </p:cNvPr>
          <p:cNvPicPr>
            <a:picLocks noChangeAspect="1"/>
          </p:cNvPicPr>
          <p:nvPr/>
        </p:nvPicPr>
        <p:blipFill>
          <a:blip r:embed="rId2"/>
          <a:stretch>
            <a:fillRect/>
          </a:stretch>
        </p:blipFill>
        <p:spPr>
          <a:xfrm>
            <a:off x="455612" y="2514600"/>
            <a:ext cx="11394143" cy="2286000"/>
          </a:xfrm>
          <a:prstGeom prst="rect">
            <a:avLst/>
          </a:prstGeom>
        </p:spPr>
      </p:pic>
    </p:spTree>
    <p:extLst>
      <p:ext uri="{BB962C8B-B14F-4D97-AF65-F5344CB8AC3E}">
        <p14:creationId xmlns:p14="http://schemas.microsoft.com/office/powerpoint/2010/main" val="2320470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4D19F-A968-66AD-9468-D3B17792E422}"/>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F25254F6-6C99-FFFC-8D30-9146A0E7F016}"/>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2NF</a:t>
            </a:r>
          </a:p>
        </p:txBody>
      </p:sp>
      <p:pic>
        <p:nvPicPr>
          <p:cNvPr id="6" name="Picture 5">
            <a:extLst>
              <a:ext uri="{FF2B5EF4-FFF2-40B4-BE49-F238E27FC236}">
                <a16:creationId xmlns:a16="http://schemas.microsoft.com/office/drawing/2014/main" id="{5F491375-2547-E5B0-FC70-B529A5D52E0D}"/>
              </a:ext>
            </a:extLst>
          </p:cNvPr>
          <p:cNvPicPr>
            <a:picLocks noChangeAspect="1"/>
          </p:cNvPicPr>
          <p:nvPr/>
        </p:nvPicPr>
        <p:blipFill>
          <a:blip r:embed="rId2"/>
          <a:stretch>
            <a:fillRect/>
          </a:stretch>
        </p:blipFill>
        <p:spPr>
          <a:xfrm>
            <a:off x="2170112" y="1674241"/>
            <a:ext cx="3124200" cy="2119023"/>
          </a:xfrm>
          <a:prstGeom prst="rect">
            <a:avLst/>
          </a:prstGeom>
        </p:spPr>
      </p:pic>
      <p:pic>
        <p:nvPicPr>
          <p:cNvPr id="8" name="Picture 7">
            <a:extLst>
              <a:ext uri="{FF2B5EF4-FFF2-40B4-BE49-F238E27FC236}">
                <a16:creationId xmlns:a16="http://schemas.microsoft.com/office/drawing/2014/main" id="{93AD9F2C-04BC-293E-1167-F6A709084428}"/>
              </a:ext>
            </a:extLst>
          </p:cNvPr>
          <p:cNvPicPr>
            <a:picLocks noChangeAspect="1"/>
          </p:cNvPicPr>
          <p:nvPr/>
        </p:nvPicPr>
        <p:blipFill>
          <a:blip r:embed="rId3"/>
          <a:stretch>
            <a:fillRect/>
          </a:stretch>
        </p:blipFill>
        <p:spPr>
          <a:xfrm>
            <a:off x="6018212" y="1754757"/>
            <a:ext cx="5010687" cy="2051790"/>
          </a:xfrm>
          <a:prstGeom prst="rect">
            <a:avLst/>
          </a:prstGeom>
        </p:spPr>
      </p:pic>
      <p:pic>
        <p:nvPicPr>
          <p:cNvPr id="10" name="Picture 9">
            <a:extLst>
              <a:ext uri="{FF2B5EF4-FFF2-40B4-BE49-F238E27FC236}">
                <a16:creationId xmlns:a16="http://schemas.microsoft.com/office/drawing/2014/main" id="{2E081B6E-1F89-85B3-37C4-7B9AA86A1E89}"/>
              </a:ext>
            </a:extLst>
          </p:cNvPr>
          <p:cNvPicPr>
            <a:picLocks noChangeAspect="1"/>
          </p:cNvPicPr>
          <p:nvPr/>
        </p:nvPicPr>
        <p:blipFill>
          <a:blip r:embed="rId4"/>
          <a:stretch>
            <a:fillRect/>
          </a:stretch>
        </p:blipFill>
        <p:spPr>
          <a:xfrm>
            <a:off x="3827272" y="4114800"/>
            <a:ext cx="4381880" cy="2457663"/>
          </a:xfrm>
          <a:prstGeom prst="rect">
            <a:avLst/>
          </a:prstGeom>
        </p:spPr>
      </p:pic>
    </p:spTree>
    <p:extLst>
      <p:ext uri="{BB962C8B-B14F-4D97-AF65-F5344CB8AC3E}">
        <p14:creationId xmlns:p14="http://schemas.microsoft.com/office/powerpoint/2010/main" val="3944769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36F8F-D43D-28B0-07E8-442F8881962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5C331F6-69CF-8B4A-C853-84B0A1CFEDEF}"/>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3NF</a:t>
            </a:r>
          </a:p>
        </p:txBody>
      </p:sp>
      <p:pic>
        <p:nvPicPr>
          <p:cNvPr id="6" name="Picture 5">
            <a:extLst>
              <a:ext uri="{FF2B5EF4-FFF2-40B4-BE49-F238E27FC236}">
                <a16:creationId xmlns:a16="http://schemas.microsoft.com/office/drawing/2014/main" id="{51C9B82A-6412-0C51-D0CF-BF318E41C9EA}"/>
              </a:ext>
            </a:extLst>
          </p:cNvPr>
          <p:cNvPicPr>
            <a:picLocks noChangeAspect="1"/>
          </p:cNvPicPr>
          <p:nvPr/>
        </p:nvPicPr>
        <p:blipFill>
          <a:blip r:embed="rId2"/>
          <a:stretch>
            <a:fillRect/>
          </a:stretch>
        </p:blipFill>
        <p:spPr>
          <a:xfrm>
            <a:off x="1370012" y="1683688"/>
            <a:ext cx="3124200" cy="2119023"/>
          </a:xfrm>
          <a:prstGeom prst="rect">
            <a:avLst/>
          </a:prstGeom>
        </p:spPr>
      </p:pic>
      <p:pic>
        <p:nvPicPr>
          <p:cNvPr id="10" name="Picture 9">
            <a:extLst>
              <a:ext uri="{FF2B5EF4-FFF2-40B4-BE49-F238E27FC236}">
                <a16:creationId xmlns:a16="http://schemas.microsoft.com/office/drawing/2014/main" id="{30F0BF60-A1C5-D207-C539-04AF41DA5261}"/>
              </a:ext>
            </a:extLst>
          </p:cNvPr>
          <p:cNvPicPr>
            <a:picLocks noChangeAspect="1"/>
          </p:cNvPicPr>
          <p:nvPr/>
        </p:nvPicPr>
        <p:blipFill>
          <a:blip r:embed="rId3"/>
          <a:stretch>
            <a:fillRect/>
          </a:stretch>
        </p:blipFill>
        <p:spPr>
          <a:xfrm>
            <a:off x="1141412" y="4048049"/>
            <a:ext cx="4381880" cy="2457663"/>
          </a:xfrm>
          <a:prstGeom prst="rect">
            <a:avLst/>
          </a:prstGeom>
        </p:spPr>
      </p:pic>
      <p:pic>
        <p:nvPicPr>
          <p:cNvPr id="3" name="Picture 2">
            <a:extLst>
              <a:ext uri="{FF2B5EF4-FFF2-40B4-BE49-F238E27FC236}">
                <a16:creationId xmlns:a16="http://schemas.microsoft.com/office/drawing/2014/main" id="{9A0A104F-D0F2-E3BB-5D8A-36A360F09362}"/>
              </a:ext>
            </a:extLst>
          </p:cNvPr>
          <p:cNvPicPr>
            <a:picLocks noChangeAspect="1"/>
          </p:cNvPicPr>
          <p:nvPr/>
        </p:nvPicPr>
        <p:blipFill>
          <a:blip r:embed="rId4"/>
          <a:stretch>
            <a:fillRect/>
          </a:stretch>
        </p:blipFill>
        <p:spPr>
          <a:xfrm>
            <a:off x="6170612" y="1631824"/>
            <a:ext cx="4343400" cy="2206540"/>
          </a:xfrm>
          <a:prstGeom prst="rect">
            <a:avLst/>
          </a:prstGeom>
        </p:spPr>
      </p:pic>
      <p:pic>
        <p:nvPicPr>
          <p:cNvPr id="5" name="Picture 4">
            <a:extLst>
              <a:ext uri="{FF2B5EF4-FFF2-40B4-BE49-F238E27FC236}">
                <a16:creationId xmlns:a16="http://schemas.microsoft.com/office/drawing/2014/main" id="{C9A0B45D-E9C6-884A-AA28-6CFB8C10DA14}"/>
              </a:ext>
            </a:extLst>
          </p:cNvPr>
          <p:cNvPicPr>
            <a:picLocks noChangeAspect="1"/>
          </p:cNvPicPr>
          <p:nvPr/>
        </p:nvPicPr>
        <p:blipFill>
          <a:blip r:embed="rId5"/>
          <a:stretch>
            <a:fillRect/>
          </a:stretch>
        </p:blipFill>
        <p:spPr>
          <a:xfrm>
            <a:off x="7085012" y="4114800"/>
            <a:ext cx="3131505" cy="2324163"/>
          </a:xfrm>
          <a:prstGeom prst="rect">
            <a:avLst/>
          </a:prstGeom>
        </p:spPr>
      </p:pic>
    </p:spTree>
    <p:extLst>
      <p:ext uri="{BB962C8B-B14F-4D97-AF65-F5344CB8AC3E}">
        <p14:creationId xmlns:p14="http://schemas.microsoft.com/office/powerpoint/2010/main" val="3391518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F02E9-EB40-E5B2-5F1F-A744FB89C467}"/>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97F1BD1-3E28-5B65-D239-F893B34DEE4F}"/>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Mapping</a:t>
            </a:r>
          </a:p>
        </p:txBody>
      </p:sp>
      <p:pic>
        <p:nvPicPr>
          <p:cNvPr id="11" name="Picture 10">
            <a:extLst>
              <a:ext uri="{FF2B5EF4-FFF2-40B4-BE49-F238E27FC236}">
                <a16:creationId xmlns:a16="http://schemas.microsoft.com/office/drawing/2014/main" id="{19756340-586D-C993-199A-720A344872F0}"/>
              </a:ext>
            </a:extLst>
          </p:cNvPr>
          <p:cNvPicPr>
            <a:picLocks noChangeAspect="1"/>
          </p:cNvPicPr>
          <p:nvPr/>
        </p:nvPicPr>
        <p:blipFill>
          <a:blip r:embed="rId2" cstate="print">
            <a:extLst>
              <a:ext uri="{28A0092B-C50C-407E-A947-70E740481C1C}">
                <a14:useLocalDpi xmlns:a14="http://schemas.microsoft.com/office/drawing/2010/main" val="0"/>
              </a:ext>
            </a:extLst>
          </a:blip>
          <a:srcRect l="10615" t="7434" r="10615" b="7432"/>
          <a:stretch>
            <a:fillRect/>
          </a:stretch>
        </p:blipFill>
        <p:spPr>
          <a:xfrm>
            <a:off x="1534033" y="1600200"/>
            <a:ext cx="9601200" cy="5181600"/>
          </a:xfrm>
          <a:prstGeom prst="rect">
            <a:avLst/>
          </a:prstGeom>
        </p:spPr>
      </p:pic>
    </p:spTree>
    <p:extLst>
      <p:ext uri="{BB962C8B-B14F-4D97-AF65-F5344CB8AC3E}">
        <p14:creationId xmlns:p14="http://schemas.microsoft.com/office/powerpoint/2010/main" val="2176233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014AE-AB0A-6051-5014-8EDDEE221626}"/>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DD3184D0-80F9-861C-81DC-228B3FB0D2D1}"/>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Problem 2</a:t>
            </a:r>
          </a:p>
        </p:txBody>
      </p:sp>
      <p:sp>
        <p:nvSpPr>
          <p:cNvPr id="14" name="Content Placeholder 13">
            <a:extLst>
              <a:ext uri="{FF2B5EF4-FFF2-40B4-BE49-F238E27FC236}">
                <a16:creationId xmlns:a16="http://schemas.microsoft.com/office/drawing/2014/main" id="{81AECEDC-ABF5-EF79-14D6-2F77CD2E623B}"/>
              </a:ext>
            </a:extLst>
          </p:cNvPr>
          <p:cNvSpPr>
            <a:spLocks noGrp="1"/>
          </p:cNvSpPr>
          <p:nvPr>
            <p:ph idx="1"/>
          </p:nvPr>
        </p:nvSpPr>
        <p:spPr>
          <a:xfrm>
            <a:off x="1217612" y="1905000"/>
            <a:ext cx="10210800" cy="4724400"/>
          </a:xfrm>
        </p:spPr>
        <p:txBody>
          <a:bodyPr>
            <a:normAutofit fontScale="92500" lnSpcReduction="10000"/>
          </a:bodyPr>
          <a:lstStyle/>
          <a:p>
            <a:r>
              <a:rPr lang="en-US" sz="4800" dirty="0">
                <a:latin typeface="Angsana New" panose="02020603050405020304" pitchFamily="18" charset="-34"/>
                <a:cs typeface="Angsana New" panose="02020603050405020304" pitchFamily="18" charset="-34"/>
              </a:rPr>
              <a:t>The provided report contains detailed information concerning the organization's projects and the employees assigned to them. The records illustrate a many-to-many relationship: a project can involve multiple employees, and an employee can work on multiple projects. Additionally, each job classification is associated with a specific hourly charge rate (CHG/Hour). Your task is to apply the First, Second, and Third Normal Forms (1NF, 2NF, and 3NF) to this data.</a:t>
            </a:r>
          </a:p>
        </p:txBody>
      </p:sp>
    </p:spTree>
    <p:extLst>
      <p:ext uri="{BB962C8B-B14F-4D97-AF65-F5344CB8AC3E}">
        <p14:creationId xmlns:p14="http://schemas.microsoft.com/office/powerpoint/2010/main" val="1358103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48EEA-6FB0-85B4-4B30-E31E02D8C665}"/>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93E943D9-8D99-13D9-DD94-BD77DECD415E}"/>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Data</a:t>
            </a:r>
          </a:p>
        </p:txBody>
      </p:sp>
      <p:pic>
        <p:nvPicPr>
          <p:cNvPr id="5" name="Picture 4">
            <a:extLst>
              <a:ext uri="{FF2B5EF4-FFF2-40B4-BE49-F238E27FC236}">
                <a16:creationId xmlns:a16="http://schemas.microsoft.com/office/drawing/2014/main" id="{83FBAF7A-2269-2B07-A643-504875E57516}"/>
              </a:ext>
            </a:extLst>
          </p:cNvPr>
          <p:cNvPicPr>
            <a:picLocks noChangeAspect="1"/>
          </p:cNvPicPr>
          <p:nvPr/>
        </p:nvPicPr>
        <p:blipFill>
          <a:blip r:embed="rId2"/>
          <a:stretch>
            <a:fillRect/>
          </a:stretch>
        </p:blipFill>
        <p:spPr>
          <a:xfrm>
            <a:off x="379412" y="2057400"/>
            <a:ext cx="5581521" cy="4495800"/>
          </a:xfrm>
          <a:prstGeom prst="rect">
            <a:avLst/>
          </a:prstGeom>
        </p:spPr>
      </p:pic>
      <p:pic>
        <p:nvPicPr>
          <p:cNvPr id="9" name="Picture 8">
            <a:extLst>
              <a:ext uri="{FF2B5EF4-FFF2-40B4-BE49-F238E27FC236}">
                <a16:creationId xmlns:a16="http://schemas.microsoft.com/office/drawing/2014/main" id="{163ED924-49EC-20E9-24AF-6D73AEF16AD4}"/>
              </a:ext>
            </a:extLst>
          </p:cNvPr>
          <p:cNvPicPr>
            <a:picLocks noChangeAspect="1"/>
          </p:cNvPicPr>
          <p:nvPr/>
        </p:nvPicPr>
        <p:blipFill>
          <a:blip r:embed="rId3"/>
          <a:stretch>
            <a:fillRect/>
          </a:stretch>
        </p:blipFill>
        <p:spPr>
          <a:xfrm>
            <a:off x="6094412" y="2438400"/>
            <a:ext cx="5885037" cy="3657600"/>
          </a:xfrm>
          <a:prstGeom prst="rect">
            <a:avLst/>
          </a:prstGeom>
        </p:spPr>
      </p:pic>
    </p:spTree>
    <p:extLst>
      <p:ext uri="{BB962C8B-B14F-4D97-AF65-F5344CB8AC3E}">
        <p14:creationId xmlns:p14="http://schemas.microsoft.com/office/powerpoint/2010/main" val="3855305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FF9D3-05A0-6D57-E5FC-4E5D11D8105B}"/>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053516C9-BC29-D141-2B16-F1CD8ECF7842}"/>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1NF</a:t>
            </a:r>
          </a:p>
        </p:txBody>
      </p:sp>
      <p:pic>
        <p:nvPicPr>
          <p:cNvPr id="4" name="Picture 3">
            <a:extLst>
              <a:ext uri="{FF2B5EF4-FFF2-40B4-BE49-F238E27FC236}">
                <a16:creationId xmlns:a16="http://schemas.microsoft.com/office/drawing/2014/main" id="{564E0410-4F8A-F5CD-EFD6-D8422F93C5C8}"/>
              </a:ext>
            </a:extLst>
          </p:cNvPr>
          <p:cNvPicPr>
            <a:picLocks noChangeAspect="1"/>
          </p:cNvPicPr>
          <p:nvPr/>
        </p:nvPicPr>
        <p:blipFill>
          <a:blip r:embed="rId2"/>
          <a:stretch>
            <a:fillRect/>
          </a:stretch>
        </p:blipFill>
        <p:spPr>
          <a:xfrm>
            <a:off x="2741612" y="1600200"/>
            <a:ext cx="6744284" cy="5189670"/>
          </a:xfrm>
          <a:prstGeom prst="rect">
            <a:avLst/>
          </a:prstGeom>
        </p:spPr>
      </p:pic>
    </p:spTree>
    <p:extLst>
      <p:ext uri="{BB962C8B-B14F-4D97-AF65-F5344CB8AC3E}">
        <p14:creationId xmlns:p14="http://schemas.microsoft.com/office/powerpoint/2010/main" val="908800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F2AE0-3A7C-3ACF-3D13-6905964ED960}"/>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5B213E62-B73E-0D2B-961F-DC97C198A32E}"/>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2NF</a:t>
            </a:r>
          </a:p>
        </p:txBody>
      </p:sp>
      <p:pic>
        <p:nvPicPr>
          <p:cNvPr id="3" name="Picture 2">
            <a:extLst>
              <a:ext uri="{FF2B5EF4-FFF2-40B4-BE49-F238E27FC236}">
                <a16:creationId xmlns:a16="http://schemas.microsoft.com/office/drawing/2014/main" id="{E5937E7C-2FFA-79EF-1865-BF8419DA9263}"/>
              </a:ext>
            </a:extLst>
          </p:cNvPr>
          <p:cNvPicPr>
            <a:picLocks noChangeAspect="1"/>
          </p:cNvPicPr>
          <p:nvPr/>
        </p:nvPicPr>
        <p:blipFill>
          <a:blip r:embed="rId2"/>
          <a:stretch>
            <a:fillRect/>
          </a:stretch>
        </p:blipFill>
        <p:spPr>
          <a:xfrm>
            <a:off x="303213" y="2667000"/>
            <a:ext cx="2819400" cy="2509901"/>
          </a:xfrm>
          <a:prstGeom prst="rect">
            <a:avLst/>
          </a:prstGeom>
        </p:spPr>
      </p:pic>
      <p:pic>
        <p:nvPicPr>
          <p:cNvPr id="5" name="Picture 4">
            <a:extLst>
              <a:ext uri="{FF2B5EF4-FFF2-40B4-BE49-F238E27FC236}">
                <a16:creationId xmlns:a16="http://schemas.microsoft.com/office/drawing/2014/main" id="{32974F23-2CE5-FB3F-F8F8-25B95856F4B8}"/>
              </a:ext>
            </a:extLst>
          </p:cNvPr>
          <p:cNvPicPr>
            <a:picLocks noChangeAspect="1"/>
          </p:cNvPicPr>
          <p:nvPr/>
        </p:nvPicPr>
        <p:blipFill>
          <a:blip r:embed="rId3"/>
          <a:stretch>
            <a:fillRect/>
          </a:stretch>
        </p:blipFill>
        <p:spPr>
          <a:xfrm>
            <a:off x="3503612" y="1687149"/>
            <a:ext cx="4343400" cy="4809358"/>
          </a:xfrm>
          <a:prstGeom prst="rect">
            <a:avLst/>
          </a:prstGeom>
        </p:spPr>
      </p:pic>
      <p:pic>
        <p:nvPicPr>
          <p:cNvPr id="9" name="Picture 8">
            <a:extLst>
              <a:ext uri="{FF2B5EF4-FFF2-40B4-BE49-F238E27FC236}">
                <a16:creationId xmlns:a16="http://schemas.microsoft.com/office/drawing/2014/main" id="{DEFDF0B7-C374-AFB8-F071-E12F56BEC539}"/>
              </a:ext>
            </a:extLst>
          </p:cNvPr>
          <p:cNvPicPr>
            <a:picLocks noChangeAspect="1"/>
          </p:cNvPicPr>
          <p:nvPr/>
        </p:nvPicPr>
        <p:blipFill>
          <a:blip r:embed="rId4"/>
          <a:stretch>
            <a:fillRect/>
          </a:stretch>
        </p:blipFill>
        <p:spPr>
          <a:xfrm>
            <a:off x="8609012" y="1600200"/>
            <a:ext cx="3276600" cy="5186390"/>
          </a:xfrm>
          <a:prstGeom prst="rect">
            <a:avLst/>
          </a:prstGeom>
        </p:spPr>
      </p:pic>
    </p:spTree>
    <p:extLst>
      <p:ext uri="{BB962C8B-B14F-4D97-AF65-F5344CB8AC3E}">
        <p14:creationId xmlns:p14="http://schemas.microsoft.com/office/powerpoint/2010/main" val="3122333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E6E52-F6B3-EB64-4DFD-29C72744C09E}"/>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98AF1213-B97B-EDBE-2771-4F074F0AD4C2}"/>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3NF</a:t>
            </a:r>
          </a:p>
        </p:txBody>
      </p:sp>
      <p:pic>
        <p:nvPicPr>
          <p:cNvPr id="4" name="Picture 3">
            <a:extLst>
              <a:ext uri="{FF2B5EF4-FFF2-40B4-BE49-F238E27FC236}">
                <a16:creationId xmlns:a16="http://schemas.microsoft.com/office/drawing/2014/main" id="{5F943988-F0BB-BF2B-C9A8-C745B53D15C8}"/>
              </a:ext>
            </a:extLst>
          </p:cNvPr>
          <p:cNvPicPr>
            <a:picLocks noChangeAspect="1"/>
          </p:cNvPicPr>
          <p:nvPr/>
        </p:nvPicPr>
        <p:blipFill>
          <a:blip r:embed="rId2"/>
          <a:stretch>
            <a:fillRect/>
          </a:stretch>
        </p:blipFill>
        <p:spPr>
          <a:xfrm>
            <a:off x="150812" y="1752600"/>
            <a:ext cx="1968715" cy="1752600"/>
          </a:xfrm>
          <a:prstGeom prst="rect">
            <a:avLst/>
          </a:prstGeom>
        </p:spPr>
      </p:pic>
      <p:pic>
        <p:nvPicPr>
          <p:cNvPr id="8" name="Picture 7">
            <a:extLst>
              <a:ext uri="{FF2B5EF4-FFF2-40B4-BE49-F238E27FC236}">
                <a16:creationId xmlns:a16="http://schemas.microsoft.com/office/drawing/2014/main" id="{56093E31-3075-79BF-BD78-B9F21107D7C0}"/>
              </a:ext>
            </a:extLst>
          </p:cNvPr>
          <p:cNvPicPr>
            <a:picLocks noChangeAspect="1"/>
          </p:cNvPicPr>
          <p:nvPr/>
        </p:nvPicPr>
        <p:blipFill>
          <a:blip r:embed="rId3"/>
          <a:stretch>
            <a:fillRect/>
          </a:stretch>
        </p:blipFill>
        <p:spPr>
          <a:xfrm>
            <a:off x="2416809" y="1669288"/>
            <a:ext cx="3677603" cy="4989799"/>
          </a:xfrm>
          <a:prstGeom prst="rect">
            <a:avLst/>
          </a:prstGeom>
        </p:spPr>
      </p:pic>
      <p:pic>
        <p:nvPicPr>
          <p:cNvPr id="11" name="Picture 10">
            <a:extLst>
              <a:ext uri="{FF2B5EF4-FFF2-40B4-BE49-F238E27FC236}">
                <a16:creationId xmlns:a16="http://schemas.microsoft.com/office/drawing/2014/main" id="{55014BE1-B105-F415-1639-0D2504AD2B49}"/>
              </a:ext>
            </a:extLst>
          </p:cNvPr>
          <p:cNvPicPr>
            <a:picLocks noChangeAspect="1"/>
          </p:cNvPicPr>
          <p:nvPr/>
        </p:nvPicPr>
        <p:blipFill>
          <a:blip r:embed="rId4"/>
          <a:stretch>
            <a:fillRect/>
          </a:stretch>
        </p:blipFill>
        <p:spPr>
          <a:xfrm>
            <a:off x="6449399" y="2286000"/>
            <a:ext cx="1864442" cy="2819400"/>
          </a:xfrm>
          <a:prstGeom prst="rect">
            <a:avLst/>
          </a:prstGeom>
        </p:spPr>
      </p:pic>
      <p:pic>
        <p:nvPicPr>
          <p:cNvPr id="14" name="Picture 13">
            <a:extLst>
              <a:ext uri="{FF2B5EF4-FFF2-40B4-BE49-F238E27FC236}">
                <a16:creationId xmlns:a16="http://schemas.microsoft.com/office/drawing/2014/main" id="{72950E93-BAEE-44C6-0F54-633EFB29885B}"/>
              </a:ext>
            </a:extLst>
          </p:cNvPr>
          <p:cNvPicPr>
            <a:picLocks noChangeAspect="1"/>
          </p:cNvPicPr>
          <p:nvPr/>
        </p:nvPicPr>
        <p:blipFill>
          <a:blip r:embed="rId5"/>
          <a:stretch>
            <a:fillRect/>
          </a:stretch>
        </p:blipFill>
        <p:spPr>
          <a:xfrm>
            <a:off x="8609012" y="1600200"/>
            <a:ext cx="3276600" cy="5186390"/>
          </a:xfrm>
          <a:prstGeom prst="rect">
            <a:avLst/>
          </a:prstGeom>
        </p:spPr>
      </p:pic>
    </p:spTree>
    <p:extLst>
      <p:ext uri="{BB962C8B-B14F-4D97-AF65-F5344CB8AC3E}">
        <p14:creationId xmlns:p14="http://schemas.microsoft.com/office/powerpoint/2010/main" val="215913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D0C9B-455B-3A9C-52BB-FBFDBF3C01D7}"/>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7D15DFC-914C-0A9D-1D52-896D8B626BDF}"/>
              </a:ext>
            </a:extLst>
          </p:cNvPr>
          <p:cNvSpPr>
            <a:spLocks noGrp="1"/>
          </p:cNvSpPr>
          <p:nvPr>
            <p:ph type="title"/>
          </p:nvPr>
        </p:nvSpPr>
        <p:spPr>
          <a:xfrm>
            <a:off x="1522413" y="457200"/>
            <a:ext cx="9143998" cy="1020762"/>
          </a:xfrm>
        </p:spPr>
        <p:txBody>
          <a:bodyPr>
            <a:normAutofit/>
          </a:bodyPr>
          <a:lstStyle/>
          <a:p>
            <a:pPr algn="ctr"/>
            <a:r>
              <a:rPr lang="en-US" sz="5400" dirty="0">
                <a:latin typeface="Angsana New" panose="02020603050405020304" pitchFamily="18" charset="-34"/>
                <a:cs typeface="Angsana New" panose="02020603050405020304" pitchFamily="18" charset="-34"/>
              </a:rPr>
              <a:t>Mapping</a:t>
            </a:r>
          </a:p>
        </p:txBody>
      </p:sp>
      <p:pic>
        <p:nvPicPr>
          <p:cNvPr id="3" name="Picture 2">
            <a:extLst>
              <a:ext uri="{FF2B5EF4-FFF2-40B4-BE49-F238E27FC236}">
                <a16:creationId xmlns:a16="http://schemas.microsoft.com/office/drawing/2014/main" id="{3A19A2D3-BC9A-0043-54DE-A95F63507518}"/>
              </a:ext>
            </a:extLst>
          </p:cNvPr>
          <p:cNvPicPr>
            <a:picLocks noChangeAspect="1"/>
          </p:cNvPicPr>
          <p:nvPr/>
        </p:nvPicPr>
        <p:blipFill>
          <a:blip r:embed="rId2" cstate="print">
            <a:extLst>
              <a:ext uri="{28A0092B-C50C-407E-A947-70E740481C1C}">
                <a14:useLocalDpi xmlns:a14="http://schemas.microsoft.com/office/drawing/2010/main" val="0"/>
              </a:ext>
            </a:extLst>
          </a:blip>
          <a:srcRect l="8739" t="19952" r="9364" b="19952"/>
          <a:stretch>
            <a:fillRect/>
          </a:stretch>
        </p:blipFill>
        <p:spPr>
          <a:xfrm>
            <a:off x="455612" y="1981200"/>
            <a:ext cx="11437938" cy="4191000"/>
          </a:xfrm>
          <a:prstGeom prst="rect">
            <a:avLst/>
          </a:prstGeom>
        </p:spPr>
      </p:pic>
    </p:spTree>
    <p:extLst>
      <p:ext uri="{BB962C8B-B14F-4D97-AF65-F5344CB8AC3E}">
        <p14:creationId xmlns:p14="http://schemas.microsoft.com/office/powerpoint/2010/main" val="346413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2A237DEB9D22E4DB1BA747308CD6572" ma:contentTypeVersion="4" ma:contentTypeDescription="Create a new document." ma:contentTypeScope="" ma:versionID="af6932d0ce23f7cd5ec313e1567d0dc2">
  <xsd:schema xmlns:xsd="http://www.w3.org/2001/XMLSchema" xmlns:xs="http://www.w3.org/2001/XMLSchema" xmlns:p="http://schemas.microsoft.com/office/2006/metadata/properties" xmlns:ns3="8532d950-1ec5-40ae-824c-e0f80976e899" targetNamespace="http://schemas.microsoft.com/office/2006/metadata/properties" ma:root="true" ma:fieldsID="b1369fe30ab7a65f8b736468c8a5103b" ns3:_="">
    <xsd:import namespace="8532d950-1ec5-40ae-824c-e0f80976e89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32d950-1ec5-40ae-824c-e0f80976e89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FAF9EB-C1C8-4C5D-8C89-1B6D78416FE2}">
  <ds:schemaRefs>
    <ds:schemaRef ds:uri="http://schemas.microsoft.com/office/2006/documentManagement/types"/>
    <ds:schemaRef ds:uri="http://schemas.microsoft.com/office/infopath/2007/PartnerControls"/>
    <ds:schemaRef ds:uri="http://purl.org/dc/elements/1.1/"/>
    <ds:schemaRef ds:uri="http://purl.org/dc/terms/"/>
    <ds:schemaRef ds:uri="http://schemas.microsoft.com/office/2006/metadata/properties"/>
    <ds:schemaRef ds:uri="http://www.w3.org/XML/1998/namespace"/>
    <ds:schemaRef ds:uri="http://schemas.openxmlformats.org/package/2006/metadata/core-properties"/>
    <ds:schemaRef ds:uri="8532d950-1ec5-40ae-824c-e0f80976e899"/>
    <ds:schemaRef ds:uri="http://purl.org/dc/dcmitype/"/>
  </ds:schemaRefs>
</ds:datastoreItem>
</file>

<file path=customXml/itemProps2.xml><?xml version="1.0" encoding="utf-8"?>
<ds:datastoreItem xmlns:ds="http://schemas.openxmlformats.org/officeDocument/2006/customXml" ds:itemID="{DBBEA58C-79F5-4C64-99C4-1A283223A9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32d950-1ec5-40ae-824c-e0f80976e8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EFF4C13-3B74-416A-93DB-207A0877F78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Chalkboard education presentation (widescreen)</Template>
  <TotalTime>1178</TotalTime>
  <Words>192</Words>
  <Application>Microsoft Office PowerPoint</Application>
  <PresentationFormat>Custom</PresentationFormat>
  <Paragraphs>17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Angsana New</vt:lpstr>
      <vt:lpstr>Arial</vt:lpstr>
      <vt:lpstr>Consolas</vt:lpstr>
      <vt:lpstr>Corbel</vt:lpstr>
      <vt:lpstr>Chalkboard 16x9</vt:lpstr>
      <vt:lpstr>Adham Ashraf Saeed</vt:lpstr>
      <vt:lpstr>Problem 1</vt:lpstr>
      <vt:lpstr>Data</vt:lpstr>
      <vt:lpstr>1NF</vt:lpstr>
      <vt:lpstr>2NF</vt:lpstr>
      <vt:lpstr>3NF</vt:lpstr>
      <vt:lpstr>Mapping</vt:lpstr>
      <vt:lpstr>Problem 2</vt:lpstr>
      <vt:lpstr>Data</vt:lpstr>
      <vt:lpstr>1NF</vt:lpstr>
      <vt:lpstr>2NF</vt:lpstr>
      <vt:lpstr>3NF</vt:lpstr>
      <vt:lpstr>Mapping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Adham Ashraf Saeed</dc:creator>
  <cp:lastModifiedBy>Adham Ashraf Saeed</cp:lastModifiedBy>
  <cp:revision>10</cp:revision>
  <dcterms:created xsi:type="dcterms:W3CDTF">2026-06-07T22:28:29Z</dcterms:created>
  <dcterms:modified xsi:type="dcterms:W3CDTF">2026-07-09T21:39:41Z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0x010100D2A237DEB9D22E4DB1BA747308CD6572</vt:lpwstr>
  </property>
</Properties>
</file>