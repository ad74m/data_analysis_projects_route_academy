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0" r:id="rId14"/>
    <p:sldId id="258" r:id="rId15"/>
    <p:sldId id="259" r:id="rId16"/>
    <p:sldId id="261" r:id="rId17"/>
    <p:sldId id="262" r:id="rId18"/>
    <p:sldId id="263" r:id="rId19"/>
    <p:sldId id="264" r:id="rId20"/>
    <p:sldId id="265" r:id="rId21"/>
    <p:sldId id="266" r:id="rId2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99" autoAdjust="0"/>
  </p:normalViewPr>
  <p:slideViewPr>
    <p:cSldViewPr>
      <p:cViewPr>
        <p:scale>
          <a:sx n="94" d="100"/>
          <a:sy n="94" d="100"/>
        </p:scale>
        <p:origin x="216" y="3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6/15/2026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6/15/2026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6/15/2026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2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Lookup Functions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1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A manager wants to review compensation (Salary) for the following employees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Vlookup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return the following: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F3FFA-68E6-B069-C46E-29517650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2" y="3429000"/>
            <a:ext cx="4648200" cy="370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98020-BA80-2EE4-8007-1A128063F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92" y="4953000"/>
            <a:ext cx="6287045" cy="400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1376D4-33E7-A4C9-1EDC-7012F7605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92" y="5661729"/>
            <a:ext cx="6287045" cy="2933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22A5A9-E5C5-E02A-307A-B8A444208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212" y="1796957"/>
            <a:ext cx="4195022" cy="45713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CB5E40-880D-D519-65AF-FA65548A11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392" y="4284283"/>
            <a:ext cx="6287045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6F46-5160-DA79-6A2F-2090A09AD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AB8F5A-B247-1C85-AFD2-8F59C2432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Lookup Functions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139AD51-327F-2294-FCB2-8D126BCD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The HR department needs to identify where employees are located.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Xlookup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retrieve the following information: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06FCFC-B751-964E-E5CD-E917B879C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30" y="3276600"/>
            <a:ext cx="5105400" cy="3707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0789CF-6E73-DBB8-72DA-A15F9136F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479" y="1905000"/>
            <a:ext cx="4896334" cy="46623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7B9F6A-9ED0-97EA-363C-9F874264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30" y="3886241"/>
            <a:ext cx="5277307" cy="3314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104960-AECF-1603-D042-7E38C440A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57" y="4545026"/>
            <a:ext cx="4458086" cy="3505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8BBFE31-32E8-02F8-14C7-31AF69F96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475" y="5369666"/>
            <a:ext cx="4370449" cy="2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4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8A09-E8D9-5426-8465-3E71F1BC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954A743-7AD2-0293-4F27-AA41F547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Lookup Functions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3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228244B-86FC-988F-82B6-A6E2220CC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Sometimes HR receives an employee's name instead of their employee number.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Xlookup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find the following information: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5694B7-6A3A-CAD0-AA11-69E5BAD63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2" y="3417211"/>
            <a:ext cx="5195234" cy="402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79E948-7591-BF0A-D56B-EAAA01119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4191000"/>
            <a:ext cx="4477138" cy="323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2485CB-17EB-62D7-23B1-8DE4E1C82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52" y="4800567"/>
            <a:ext cx="4618120" cy="3619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F0607B-BC24-BC37-6400-FD532D8B4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81" y="5587503"/>
            <a:ext cx="4922947" cy="3429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96C11A-94B5-987A-7670-C267B30BAA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412" y="1752600"/>
            <a:ext cx="5029198" cy="468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4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7979-403C-2737-A4BB-AF8D590A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30D4D6A-2506-0B03-6A08-2A91602C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Lookup Functions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4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07CB0CD-BD24-062F-61BE-B992851A5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Operations management wants to identify employees working the most overtime.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Using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Vlookup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return the following: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0CC64-DD7B-E654-7F59-0289ECC2F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3352800"/>
            <a:ext cx="4800600" cy="506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C0C96B-70D4-45B7-79DC-3C89D3D73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2" y="4191001"/>
            <a:ext cx="5562600" cy="312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9792CB-132A-EBB5-EE12-433E63714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13" y="4869276"/>
            <a:ext cx="5715000" cy="276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62F8B9-0062-EFF7-3ED2-FBF8F10C8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081" y="5549914"/>
            <a:ext cx="5776531" cy="3301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16643D-19F1-DBAA-DEDB-290000922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6412" y="1905000"/>
            <a:ext cx="4677022" cy="453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9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7207-8312-0AAA-2D19-89A46FEE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41F3D3E-0F7B-1232-EDFC-92C957BF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Lookup Functions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5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37E647D-E3BE-78B6-E8D0-29AD9A789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The HR department wants to review how long certain employees have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been working at the company.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Use Index and Match to retrieve the following information: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3974EF-47BE-9304-C423-25C6E413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64" y="3886200"/>
            <a:ext cx="5700334" cy="507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E21740-823A-02D2-0346-750BDBEA7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64" y="4673884"/>
            <a:ext cx="5791200" cy="2938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E903E9-F6F0-8F55-7F99-A7182DC06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2" y="5183672"/>
            <a:ext cx="5933884" cy="2959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7E8EB3-5991-B4F1-42F6-4B11E9C16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047" y="5757651"/>
            <a:ext cx="6395414" cy="2882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6C012F-C425-495F-DB24-652F6A4EA4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012" y="1734990"/>
            <a:ext cx="4833225" cy="481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2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EF30-8882-219C-8DAF-692C7388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47AF10A-3FE5-FC93-B7F5-D022BFB2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Lookup Functions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6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62D4DF-26CE-4D16-78C0-DD3EE5022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410200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The HR manager wants to investigate employee attendance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Use Index and Match to retrieve the following information: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F29A1E-9C03-EE7F-E937-B9B8E3BEA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71" y="3048000"/>
            <a:ext cx="5410201" cy="416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401F6E-989C-52BA-4E0A-07F01E777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" y="3762063"/>
            <a:ext cx="5943602" cy="258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C40B62-B02C-1265-5692-90459D38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12" y="4425846"/>
            <a:ext cx="6230252" cy="246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79EBBD-9C2C-6B81-AAD4-090E2DF3A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85" y="5172678"/>
            <a:ext cx="6105856" cy="2497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1BA6C8-524A-348B-A7D4-4E3D77092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655" y="1752600"/>
            <a:ext cx="4938010" cy="47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2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E3A7-11C1-0000-E94B-F59420BC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1E5B826-0500-EB52-F479-FEED6A18E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If And Nested If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1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4227366-1AB8-DFCD-3D45-3B558831C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715000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HR wants to identify employees who worked significant overtime.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column called Overtime Status.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If Overtime Hours &gt; 100 → "High Overtime"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Otherwise → "Normal"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7B91E9-77B2-FD64-1435-DD3996A46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12" y="5029200"/>
            <a:ext cx="6915973" cy="456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29AF4-42D0-4E0C-547F-16B2DCF7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816"/>
          <a:stretch>
            <a:fillRect/>
          </a:stretch>
        </p:blipFill>
        <p:spPr>
          <a:xfrm>
            <a:off x="6359265" y="2895600"/>
            <a:ext cx="440506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1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1405-101A-5344-590B-8268BBD58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FA59AA2-4BA0-5A19-E56C-D9C13904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 fontScale="90000"/>
          </a:bodyPr>
          <a:lstStyle/>
          <a:p>
            <a:pPr algn="ctr"/>
            <a:r>
              <a:rPr lang="pt-BR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If And Nested If</a:t>
            </a:r>
            <a:b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 Question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E978644-960E-7112-10EF-EAC4D3C3C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715000" cy="4267200"/>
          </a:xfrm>
        </p:spPr>
        <p:txBody>
          <a:bodyPr/>
          <a:lstStyle/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Finance wants to classify employees based on Monthly Salary. </a:t>
            </a:r>
          </a:p>
          <a:p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column called Salary Category.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35205-D308-99FE-D801-311E5A2C2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3124200"/>
            <a:ext cx="4241228" cy="158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8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6151-2DCB-A942-57E0-B37626D3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D4584F7-35E6-6821-9CE4-7BC6336C9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24FEB85-47F8-326B-C81B-7380F3F2E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981200"/>
            <a:ext cx="5029198" cy="42672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Identify: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number of records (rows)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number of fields (columns)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Insert a new column called Total Sales Value.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F165F-D260-B433-B786-38F95810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12" y="2209800"/>
            <a:ext cx="4077397" cy="1346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A3DBD1-56D5-F761-D1EC-FEC49D6B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04" y="4648200"/>
            <a:ext cx="2768887" cy="8801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69662D-A761-D60E-A3FD-F6B35B3F4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412" y="2743200"/>
            <a:ext cx="3201156" cy="229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D2FAF-EF87-D4AF-157E-F12B6F609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149"/>
          <a:stretch>
            <a:fillRect/>
          </a:stretch>
        </p:blipFill>
        <p:spPr>
          <a:xfrm>
            <a:off x="8380412" y="3164762"/>
            <a:ext cx="3733800" cy="22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6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BBB3-0B6B-C4E0-5EC4-7113DA6F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92292BC-F0BC-6033-48B4-5B64C7CC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3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10182DB-FDE6-7E13-3B19-F51268DDD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71" y="1905000"/>
            <a:ext cx="5791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Ensure: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Sales, Quantity, and Price columns are numeric.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Date columns are in proper date format. </a:t>
            </a: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Apply appropriate number formatting: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Currency for monetary values.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Standardize text formatting (Proper Case).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D6023-DBC0-7D40-BDB8-76D9345EA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12" y="1637920"/>
            <a:ext cx="3276600" cy="1612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CCE878-09C8-87EA-9202-98547FFC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227" y="1632498"/>
            <a:ext cx="2995037" cy="1720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249C85-6C3A-7060-B6D1-A5FE16D5B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212" y="3378666"/>
            <a:ext cx="3201690" cy="16120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1CB9D2-ED4B-7B17-8D1E-EF699AE69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212" y="3487591"/>
            <a:ext cx="3555403" cy="1338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6B70AB-1AF6-3419-A918-203244D3B3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7273"/>
          <a:stretch>
            <a:fillRect/>
          </a:stretch>
        </p:blipFill>
        <p:spPr>
          <a:xfrm>
            <a:off x="4932727" y="5119412"/>
            <a:ext cx="3941356" cy="16120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F762E9-DB1F-DD0B-849B-C07D983BA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2227" y="4865486"/>
            <a:ext cx="2949481" cy="18939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43FD72-C499-A5B8-7ACD-CF83F75B934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5100"/>
          <a:stretch>
            <a:fillRect/>
          </a:stretch>
        </p:blipFill>
        <p:spPr>
          <a:xfrm>
            <a:off x="761494" y="5914934"/>
            <a:ext cx="3796211" cy="43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5FC6-3167-52E3-09A4-3B8593B8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600D8C2-EE8A-2172-D732-DDE9ED75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EE463EA-F4A7-5A78-2AFF-5CC24EC1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named range for: </a:t>
            </a:r>
            <a:endParaRPr lang="ar-EG" sz="2800" dirty="0">
              <a:latin typeface="Angsana New" panose="02020603050405020304" pitchFamily="18" charset="-34"/>
            </a:endParaRP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Sales Amount column →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Sales_Amount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Use the named range in at least one formula. </a:t>
            </a:r>
            <a:endParaRPr lang="ar-EG" sz="2800" dirty="0">
              <a:latin typeface="Angsana New" panose="02020603050405020304" pitchFamily="18" charset="-34"/>
            </a:endParaRP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Briefly explain why named ranges are useful.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Answer: </a:t>
            </a:r>
          </a:p>
          <a:p>
            <a:r>
              <a:rPr lang="en-US" sz="28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Named ranges make formulas easier to read and simplify worksheet management.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0DFBD1-36C2-5AE9-FA7B-A78BBF22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12" y="1752600"/>
            <a:ext cx="4148748" cy="32499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08207D-6E70-21A2-76F2-C293619F0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12" y="5861091"/>
            <a:ext cx="4001356" cy="4908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23E884-70A2-137F-314B-8495287D9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12" y="5793403"/>
            <a:ext cx="3858322" cy="55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6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76F66-DED3-58B1-867F-975AAEC2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CD486-733F-270C-8A35-4F3C350B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5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3B8239-5115-95CF-156C-367589CB8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905000"/>
            <a:ext cx="5029198" cy="4267200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Convert the entire dataset into an Excel Table.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Rename the table to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Ecommerce_Sales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.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Add a Total Row to the table. </a:t>
            </a:r>
          </a:p>
          <a:p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Explain the advantage of using a table instead of a normal range. </a:t>
            </a:r>
          </a:p>
          <a:p>
            <a:pPr marL="0" indent="0">
              <a:buNone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Answer:</a:t>
            </a:r>
          </a:p>
          <a:p>
            <a:r>
              <a:rPr lang="en-US" sz="2800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Tables provide easier sorting, filtering, and automatic expansion when new records are added.</a:t>
            </a:r>
          </a:p>
          <a:p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01B63-CD86-7B5D-6B17-4B32BE97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373" y="1772320"/>
            <a:ext cx="2759927" cy="2505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3C4BFB-1F7A-BEC6-A0EF-8969FEEA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4572000"/>
            <a:ext cx="5373182" cy="15526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36CD57-F55B-2833-2BF9-7347BCC7D3C3}"/>
              </a:ext>
            </a:extLst>
          </p:cNvPr>
          <p:cNvSpPr/>
          <p:nvPr/>
        </p:nvSpPr>
        <p:spPr>
          <a:xfrm>
            <a:off x="6780212" y="5257800"/>
            <a:ext cx="9906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4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6B980-620B-BA18-1F6F-DDD0DA3F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03DE641-6235-58E8-BD3C-BE66564A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57F60EF-13E4-B116-ACDA-A327C65B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4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Filter the table to show: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One selected product category.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Sort: Sales Amount (Highest → Lowest)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Order Date (Newest → Oldest)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299F2-8FCF-AA39-5F2E-95904A9B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314"/>
          <a:stretch>
            <a:fillRect/>
          </a:stretch>
        </p:blipFill>
        <p:spPr>
          <a:xfrm>
            <a:off x="4875211" y="1752599"/>
            <a:ext cx="3358105" cy="4428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99B28D-D088-DAFB-1040-836C92159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12" y="1818944"/>
            <a:ext cx="2959541" cy="2219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0119A5-6D92-8538-855C-3BBFD4217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858" y="4250233"/>
            <a:ext cx="3148823" cy="23199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38D22AB-12E0-9824-900A-30E1A632FCB0}"/>
              </a:ext>
            </a:extLst>
          </p:cNvPr>
          <p:cNvSpPr/>
          <p:nvPr/>
        </p:nvSpPr>
        <p:spPr>
          <a:xfrm>
            <a:off x="8990012" y="2590800"/>
            <a:ext cx="22098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1D231F-3D95-7B01-1504-8C5602410C8A}"/>
              </a:ext>
            </a:extLst>
          </p:cNvPr>
          <p:cNvSpPr/>
          <p:nvPr/>
        </p:nvSpPr>
        <p:spPr>
          <a:xfrm>
            <a:off x="8990012" y="5105400"/>
            <a:ext cx="22098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9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836E-A349-3C27-B38A-A9F4E4C2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6C3D1B3-1B18-1FF4-6F4B-ED08B719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7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C27ADD-3219-E3D0-D50C-CDBFAF2F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Calculate Total Sales Value using: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Quantity × Unit Price </a:t>
            </a:r>
            <a:endParaRPr lang="ar-EG" sz="2600" dirty="0">
              <a:latin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a new column Sales Level using: 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IF Sales </a:t>
            </a:r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≥</a:t>
            </a: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5000 → "High" 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Else → "Low"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3CF0F-BDBC-2D60-0AC3-0BB3D4730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330" y="1722438"/>
            <a:ext cx="7195328" cy="1096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F6412-8890-92D2-2550-E62A63EC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12" y="3733800"/>
            <a:ext cx="4687199" cy="15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5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0627A-DBBF-7489-15A5-865080F4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A543A42-2E7D-60CF-A9DA-FD818BB0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</a:t>
            </a:r>
            <a:r>
              <a:rPr lang="ar-EG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8</a:t>
            </a:r>
            <a:endParaRPr lang="en-US" sz="5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E0829B5-3FC9-E885-38A9-220D43BC3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502919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Highlight:</a:t>
            </a: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High sales values in green.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Low sales values in red. </a:t>
            </a:r>
            <a:endParaRPr lang="ar-EG" sz="2600" dirty="0">
              <a:latin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Apply Data Bars to the Sales column.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BC023F-EDA5-82D0-CDDB-E34F15526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792" y="1721596"/>
            <a:ext cx="4273156" cy="1203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E69ACB-CEF9-A85B-1F45-384AEFC6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12" y="1755152"/>
            <a:ext cx="4339936" cy="1198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2EEA8-A543-714F-C7D9-844192119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12" y="3131973"/>
            <a:ext cx="4267200" cy="354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1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17D5-510D-8F45-626E-A42787D0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73E8FDC-2AFB-D51F-7478-3E4CE92C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9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65E9434-11FC-C4B5-C18E-CB134DFD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477962"/>
            <a:ext cx="5029198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ar-EG" sz="2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 Remove extra spaces from text fields.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Replace missing or blank values logically (e.g., Region → “Unknown”).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Remove duplicate records if found.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C1A5E-7DE5-F3BF-A312-36A148B00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2" t="62010"/>
          <a:stretch>
            <a:fillRect/>
          </a:stretch>
        </p:blipFill>
        <p:spPr>
          <a:xfrm>
            <a:off x="6104708" y="2362200"/>
            <a:ext cx="4220062" cy="513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5E2F06-DEF2-2751-2D8C-AD45787FA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812" y="3665538"/>
            <a:ext cx="4396005" cy="2362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9E4628-C7C4-AF5B-13D2-FD7B7BE27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212" y="3581400"/>
            <a:ext cx="3324679" cy="275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3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3FC0-0EA0-2649-ECD3-96BA498C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6CDF1F5-61CB-1A35-705D-23FAFCC1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Task 10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77DE557-235C-C383-684A-9222190F6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12" y="1981200"/>
            <a:ext cx="5029198" cy="4114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Calculate: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Total Sales using SUM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Average Sales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Count: Number of High Sales using COUNTIF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the top-selling product.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Identify the category with the highest total sales. </a:t>
            </a:r>
          </a:p>
          <a:p>
            <a:r>
              <a:rPr lang="en-US" sz="2600" dirty="0">
                <a:latin typeface="Angsana New" panose="02020603050405020304" pitchFamily="18" charset="-34"/>
                <a:cs typeface="Angsana New" panose="02020603050405020304" pitchFamily="18" charset="-34"/>
              </a:rPr>
              <a:t>Add a short insight summary (2–3 sentences) in a new sheet.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40A86-6ABF-8001-2B94-F86442021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97"/>
          <a:stretch>
            <a:fillRect/>
          </a:stretch>
        </p:blipFill>
        <p:spPr>
          <a:xfrm>
            <a:off x="8913812" y="1870921"/>
            <a:ext cx="1664421" cy="237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B9D01E-BE4A-4526-59D0-9D9DB14E6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95" t="-4737" r="1" b="-1"/>
          <a:stretch>
            <a:fillRect/>
          </a:stretch>
        </p:blipFill>
        <p:spPr>
          <a:xfrm>
            <a:off x="8936772" y="2158963"/>
            <a:ext cx="1609113" cy="215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427709-D597-DFE9-97AF-E8EEE45654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5" t="11965" b="39350"/>
          <a:stretch>
            <a:fillRect/>
          </a:stretch>
        </p:blipFill>
        <p:spPr>
          <a:xfrm>
            <a:off x="8936772" y="2416473"/>
            <a:ext cx="1809529" cy="200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426BE9-81D6-8303-88B0-D920DAA34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12" y="1727920"/>
            <a:ext cx="2209800" cy="9064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478110-4F0D-A76B-EA3D-0ECCCE9AB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12" y="3027376"/>
            <a:ext cx="3413597" cy="2173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E4EDAF-F685-6BBF-ABD0-4EFFE0CEC8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612" y="3711343"/>
            <a:ext cx="4799013" cy="13292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05B75E-B40D-9529-AB81-671E3A37CA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2612" y="2920028"/>
            <a:ext cx="5103813" cy="5485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D248E9-2A73-A976-7C30-91E61D58D5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8812" y="5199079"/>
            <a:ext cx="3527298" cy="150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6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8532d950-1ec5-40ae-824c-e0f80976e899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404</TotalTime>
  <Words>566</Words>
  <Application>Microsoft Office PowerPoint</Application>
  <PresentationFormat>Custom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Angsana New</vt:lpstr>
      <vt:lpstr>Arial</vt:lpstr>
      <vt:lpstr>Consolas</vt:lpstr>
      <vt:lpstr>Corbel</vt:lpstr>
      <vt:lpstr>Chalkboard 16x9</vt:lpstr>
      <vt:lpstr>Adham Ashraf Saeed</vt:lpstr>
      <vt:lpstr>Lookup Functions  Question 1</vt:lpstr>
      <vt:lpstr>Lookup Functions  Question 2</vt:lpstr>
      <vt:lpstr>Lookup Functions  Question 3</vt:lpstr>
      <vt:lpstr>Lookup Functions  Question 4</vt:lpstr>
      <vt:lpstr>Lookup Functions  Question 5</vt:lpstr>
      <vt:lpstr>Lookup Functions  Question 6</vt:lpstr>
      <vt:lpstr>If And Nested If  Question 1</vt:lpstr>
      <vt:lpstr>If And Nested If  Question 2</vt:lpstr>
      <vt:lpstr>Task 2</vt:lpstr>
      <vt:lpstr>Task 3</vt:lpstr>
      <vt:lpstr>Task 4</vt:lpstr>
      <vt:lpstr>Task 5</vt:lpstr>
      <vt:lpstr>Task 6</vt:lpstr>
      <vt:lpstr>Task 7</vt:lpstr>
      <vt:lpstr>Task 8</vt:lpstr>
      <vt:lpstr>Task 9</vt:lpstr>
      <vt:lpstr>Task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3</cp:revision>
  <dcterms:created xsi:type="dcterms:W3CDTF">2026-06-07T22:28:29Z</dcterms:created>
  <dcterms:modified xsi:type="dcterms:W3CDTF">2026-06-15T17:08:29Z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