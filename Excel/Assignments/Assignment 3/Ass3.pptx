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7" r:id="rId7"/>
    <p:sldId id="268" r:id="rId8"/>
    <p:sldId id="269" r:id="rId9"/>
    <p:sldId id="270" r:id="rId10"/>
    <p:sldId id="271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4" d="100"/>
          <a:sy n="94" d="100"/>
        </p:scale>
        <p:origin x="216" y="3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6/20/2026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6/20/2026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3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1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Pivot Table Preparation: </a:t>
            </a:r>
          </a:p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Ensure the dataset is: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Properly formatted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Free of blank headers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Converted into an Excel Table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new worksheet named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Pivot_Analysis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B43F5-389D-CFD0-F97A-EBBAB17DD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2"/>
          <a:stretch>
            <a:fillRect/>
          </a:stretch>
        </p:blipFill>
        <p:spPr>
          <a:xfrm>
            <a:off x="6704016" y="5105400"/>
            <a:ext cx="3089141" cy="819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876B74-4ECD-B607-14BF-139E89F9D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612" y="2743200"/>
            <a:ext cx="8151816" cy="246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3FBC6F-0057-9F82-8D46-00C661A65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412" y="3418840"/>
            <a:ext cx="2661246" cy="113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4615BC4-2D5D-4EF7-FBE9-4E20C21B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410200" cy="4267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Call Volume Analysis: </a:t>
            </a:r>
          </a:p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Pivot Table that shows: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Which month has the highest number of calls?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Are there noticeable seasonal patterns?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Calls are highest in spring, lower in summer, and recover in October</a:t>
            </a:r>
            <a:endParaRPr lang="en-US" sz="2500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Which representative handled the highest number of calls?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Is the workload evenly distributed?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Which representative has the highest average satisfaction?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Are high call volumes linked to lower satisfaction?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BDFD9-6F89-9CE8-FFF2-3CCC5E275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412" y="1662684"/>
            <a:ext cx="2286198" cy="11240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B13B46-8C90-6B67-1B5B-4C8161C2BF4F}"/>
              </a:ext>
            </a:extLst>
          </p:cNvPr>
          <p:cNvSpPr/>
          <p:nvPr/>
        </p:nvSpPr>
        <p:spPr>
          <a:xfrm>
            <a:off x="7371235" y="2491844"/>
            <a:ext cx="1563182" cy="2286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2714B4-B32C-AB5B-33A3-418971CAC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553" b="71740"/>
          <a:stretch>
            <a:fillRect/>
          </a:stretch>
        </p:blipFill>
        <p:spPr>
          <a:xfrm>
            <a:off x="4189412" y="2891044"/>
            <a:ext cx="2637471" cy="374235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BFFE462-E26C-AC7F-81BD-1F56B463A605}"/>
              </a:ext>
            </a:extLst>
          </p:cNvPr>
          <p:cNvCxnSpPr>
            <a:cxnSpLocks/>
            <a:endCxn id="14" idx="3"/>
          </p:cNvCxnSpPr>
          <p:nvPr/>
        </p:nvCxnSpPr>
        <p:spPr>
          <a:xfrm>
            <a:off x="3732212" y="3505200"/>
            <a:ext cx="2133600" cy="533400"/>
          </a:xfrm>
          <a:prstGeom prst="bentConnector3">
            <a:avLst>
              <a:gd name="adj1" fmla="val 110714"/>
            </a:avLst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8CAEA360-C81D-1E39-8ACE-C605965B3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12" y="4324447"/>
            <a:ext cx="2827265" cy="36198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B74642B-74D1-0122-9B23-DBDB57E09668}"/>
              </a:ext>
            </a:extLst>
          </p:cNvPr>
          <p:cNvSpPr txBox="1"/>
          <p:nvPr/>
        </p:nvSpPr>
        <p:spPr>
          <a:xfrm>
            <a:off x="3351211" y="4785346"/>
            <a:ext cx="83820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Yes. The workload is fairly evenly distributed among representatives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08F9772-850F-2D99-E7CC-569FBB31A9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614"/>
          <a:stretch>
            <a:fillRect/>
          </a:stretch>
        </p:blipFill>
        <p:spPr>
          <a:xfrm>
            <a:off x="5093183" y="5296870"/>
            <a:ext cx="3467400" cy="3266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CA8EB34-06F1-525B-056B-5E4C4788748E}"/>
              </a:ext>
            </a:extLst>
          </p:cNvPr>
          <p:cNvSpPr txBox="1"/>
          <p:nvPr/>
        </p:nvSpPr>
        <p:spPr>
          <a:xfrm>
            <a:off x="4572442" y="5719572"/>
            <a:ext cx="716076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1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Higher call volumes are slightly linked to lower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B2EE-0851-3A7F-50D8-BBA193DC1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5B27C23-951F-8455-B1E8-BEBC6F21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19C77EA-FF1A-51F6-16A0-D0F84D71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5626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Call Volume Analysis: </a:t>
            </a:r>
          </a:p>
          <a:p>
            <a:pPr marL="0" indent="0">
              <a:buNone/>
            </a:pP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Pivot Table that shows: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Which call duration range is most common?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Which representative generated the highest revenue?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Does higher revenue correlate with higher satisfaction?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Which day has the highest call volume?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Which day has the best customer satisfaction? 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How does performance change when filtering by city or representative?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Performance varies by representative, with differences in call volume, revenue, and satisfaction levels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CB13F-30B6-DE12-D566-A0AE6314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4"/>
          <a:stretch>
            <a:fillRect/>
          </a:stretch>
        </p:blipFill>
        <p:spPr>
          <a:xfrm>
            <a:off x="4598860" y="2762445"/>
            <a:ext cx="2838703" cy="331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7BE502-C168-6327-C310-FC95CBAFF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09" y="3265735"/>
            <a:ext cx="3124471" cy="3619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FD7AB1-5850-8D8F-2277-AB10B6E5C300}"/>
              </a:ext>
            </a:extLst>
          </p:cNvPr>
          <p:cNvSpPr txBox="1"/>
          <p:nvPr/>
        </p:nvSpPr>
        <p:spPr>
          <a:xfrm>
            <a:off x="5170567" y="3688875"/>
            <a:ext cx="609396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No, there is no clear correlation between revenue and satisfaction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8C9DEE-EEC0-B005-78A9-9FEF587FE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812" y="4221402"/>
            <a:ext cx="2827265" cy="342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72BC3E-61EC-6484-02B4-BB4573539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350" y="4755174"/>
            <a:ext cx="2808213" cy="31244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73D52FB-8DCA-E88C-D2B2-6DFDD1DB66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212" y="4814788"/>
            <a:ext cx="3242618" cy="181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9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4E01-F8D0-6136-6135-CCD59270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8CDC46B-B137-95C2-744C-1FADBB7C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C319E13-D5C7-CA4C-E320-CF653F467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5626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>
                <a:latin typeface="Angsana New" panose="02020603050405020304" pitchFamily="18" charset="-34"/>
                <a:cs typeface="Angsana New" panose="02020603050405020304" pitchFamily="18" charset="-34"/>
              </a:rPr>
              <a:t>Pivot Table Formatting &amp; Sorting:</a:t>
            </a:r>
            <a:endParaRPr lang="ar-EG" sz="23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Apply professional formatting: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Clear headers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Number formatting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Sorted values (highest → lowest)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F8CA0-2BA1-FA8F-1771-2F0627432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412" y="5105400"/>
            <a:ext cx="6457730" cy="971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51F9180-CDAA-47D2-83AB-3DB204EE9E1C}"/>
              </a:ext>
            </a:extLst>
          </p:cNvPr>
          <p:cNvSpPr/>
          <p:nvPr/>
        </p:nvSpPr>
        <p:spPr>
          <a:xfrm>
            <a:off x="5816994" y="5591186"/>
            <a:ext cx="2792017" cy="42861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199B8A-855C-901A-4DF0-11A01D9BF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174" y="2862153"/>
            <a:ext cx="3334039" cy="8839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3B6571-6331-E384-6032-723982A20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212" y="2875946"/>
            <a:ext cx="3505405" cy="9046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D538CA-F0FF-8BD1-A000-0F4D74BB4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212" y="3928976"/>
            <a:ext cx="3608383" cy="93353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E6CB2BA-DECA-E432-64BC-95086ADE01CB}"/>
              </a:ext>
            </a:extLst>
          </p:cNvPr>
          <p:cNvSpPr/>
          <p:nvPr/>
        </p:nvSpPr>
        <p:spPr>
          <a:xfrm>
            <a:off x="2436812" y="5105400"/>
            <a:ext cx="2792017" cy="42861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2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84243-B35A-63E2-EF26-3F3104FA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FB80CBC-05FB-B183-4613-4106660F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7A06177-9F3E-1BB7-DEEF-8B5DBACE9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5626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>
                <a:latin typeface="Angsana New" panose="02020603050405020304" pitchFamily="18" charset="-34"/>
                <a:cs typeface="Angsana New" panose="02020603050405020304" pitchFamily="18" charset="-34"/>
              </a:rPr>
              <a:t>Pivot Table Formatting &amp; Sorting:</a:t>
            </a:r>
            <a:endParaRPr lang="ar-EG" sz="23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Rename Pivot fields to business-friendly names.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Top 5 Representatives Pivot Table based 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Revenue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Satisfaction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F57B5-FB85-5A29-FBD6-406D9FAB8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12" y="1676400"/>
            <a:ext cx="5010723" cy="3104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966B0-80A8-36C9-D433-FF5305CFE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533" y="4853604"/>
            <a:ext cx="4381880" cy="1703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0C3402-829A-2271-768C-E3EBF4D40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12" y="4760706"/>
            <a:ext cx="4599692" cy="1106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5CA3B8-EE71-4681-7D14-176FB66AE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4412" y="3429000"/>
            <a:ext cx="3474977" cy="96272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7928202-6AA0-5C0E-7649-35B65A765D5D}"/>
              </a:ext>
            </a:extLst>
          </p:cNvPr>
          <p:cNvSpPr/>
          <p:nvPr/>
        </p:nvSpPr>
        <p:spPr>
          <a:xfrm>
            <a:off x="8609012" y="5715000"/>
            <a:ext cx="2037747" cy="3308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75B2C2-4CAC-26DE-E083-A34F9B00B8F1}"/>
              </a:ext>
            </a:extLst>
          </p:cNvPr>
          <p:cNvSpPr/>
          <p:nvPr/>
        </p:nvSpPr>
        <p:spPr>
          <a:xfrm>
            <a:off x="6399212" y="4879458"/>
            <a:ext cx="1523999" cy="20001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1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AE54-4C28-5CE9-2817-B4737CD3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E7B5420-D1D3-ABE0-3621-90859318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13CAA59-E427-11AF-EF26-7A16FDEF0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5626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>
                <a:latin typeface="Angsana New" panose="02020603050405020304" pitchFamily="18" charset="-34"/>
                <a:cs typeface="Angsana New" panose="02020603050405020304" pitchFamily="18" charset="-34"/>
              </a:rPr>
              <a:t>Pivot Table Formatting &amp; Sorting:</a:t>
            </a:r>
            <a:endParaRPr lang="ar-EG" sz="23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Add a new sheet named </a:t>
            </a:r>
            <a:r>
              <a:rPr lang="en-US" sz="25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Call_Center_Insights</a:t>
            </a:r>
            <a:endParaRPr lang="en-US" sz="25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3–4 clear business insights, such as: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Best-performing agents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Peak call times</a:t>
            </a:r>
          </a:p>
          <a:p>
            <a:r>
              <a:rPr lang="en-US" sz="2500" dirty="0">
                <a:latin typeface="Angsana New" panose="02020603050405020304" pitchFamily="18" charset="-34"/>
                <a:cs typeface="Angsana New" panose="02020603050405020304" pitchFamily="18" charset="-34"/>
              </a:rPr>
              <a:t>Revenue vs satisfaction patterns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D84E87-92D8-C88D-B253-3C45F9B8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6"/>
          <a:stretch>
            <a:fillRect/>
          </a:stretch>
        </p:blipFill>
        <p:spPr>
          <a:xfrm>
            <a:off x="6037960" y="2362200"/>
            <a:ext cx="3633317" cy="746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86F2D9-4A7E-747D-AF09-84C840789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212" y="3886200"/>
            <a:ext cx="7916474" cy="165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8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FAF9EB-C1C8-4C5D-8C89-1B6D78416FE2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8532d950-1ec5-40ae-824c-e0f80976e899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488</TotalTime>
  <Words>305</Words>
  <Application>Microsoft Office PowerPoint</Application>
  <PresentationFormat>Custom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Angsana New</vt:lpstr>
      <vt:lpstr>Arial</vt:lpstr>
      <vt:lpstr>Consolas</vt:lpstr>
      <vt:lpstr>Corbel</vt:lpstr>
      <vt:lpstr>Chalkboard 16x9</vt:lpstr>
      <vt:lpstr>Adham Ashraf Saeed</vt:lpstr>
      <vt:lpstr>Task 1</vt:lpstr>
      <vt:lpstr>Task 2</vt:lpstr>
      <vt:lpstr>Task 2</vt:lpstr>
      <vt:lpstr>Task 3</vt:lpstr>
      <vt:lpstr>Task 3</vt:lpstr>
      <vt:lpstr>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3</cp:revision>
  <dcterms:created xsi:type="dcterms:W3CDTF">2026-06-07T22:28:29Z</dcterms:created>
  <dcterms:modified xsi:type="dcterms:W3CDTF">2026-06-20T18:50:57Z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