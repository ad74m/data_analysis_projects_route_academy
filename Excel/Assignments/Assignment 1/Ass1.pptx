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60" r:id="rId7"/>
    <p:sldId id="258" r:id="rId8"/>
    <p:sldId id="259" r:id="rId9"/>
    <p:sldId id="261" r:id="rId10"/>
    <p:sldId id="262" r:id="rId11"/>
    <p:sldId id="263" r:id="rId12"/>
    <p:sldId id="264" r:id="rId13"/>
    <p:sldId id="265" r:id="rId14"/>
    <p:sldId id="266" r:id="rId1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C8CCCA-0995-4571-904B-1D379A48EE52}" v="8" dt="2026-06-08T02:46:31.908"/>
  </p1510:revLst>
</p1510:revInfo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599" autoAdjust="0"/>
  </p:normalViewPr>
  <p:slideViewPr>
    <p:cSldViewPr>
      <p:cViewPr varScale="1">
        <p:scale>
          <a:sx n="94" d="100"/>
          <a:sy n="94" d="100"/>
        </p:scale>
        <p:origin x="216" y="3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6/16/2026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6/16/2026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6/16/2026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6/16/2026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6/16/2026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>
                <a:latin typeface="Angsana New" panose="02020603050405020304" pitchFamily="18" charset="-34"/>
                <a:cs typeface="Angsana New" panose="02020603050405020304" pitchFamily="18" charset="-34"/>
              </a:rPr>
              <a:t>Adham Ashraf Saeed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4" y="4800600"/>
            <a:ext cx="9143999" cy="1066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Assignment 1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1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55612" y="1905000"/>
            <a:ext cx="5029198" cy="42672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Open the dataset file.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Rename the main sheet to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Ecommerce_Data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Freeze the header row.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Adjust column widths and row heights for readability. </a:t>
            </a:r>
            <a:endParaRPr lang="en-US" sz="5400" dirty="0">
              <a:latin typeface="Angsana New" panose="02020603050405020304" pitchFamily="18" charset="-34"/>
              <a:ea typeface="+mj-ea"/>
              <a:cs typeface="Angsana New" panose="02020603050405020304" pitchFamily="18" charset="-3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150BCD-986D-BF21-8E84-4AD8BC917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030" y="1651829"/>
            <a:ext cx="3648733" cy="5086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06D175-3EA4-EA0F-9E64-23B120D0D4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63"/>
          <a:stretch>
            <a:fillRect/>
          </a:stretch>
        </p:blipFill>
        <p:spPr>
          <a:xfrm>
            <a:off x="8828640" y="2903538"/>
            <a:ext cx="3255568" cy="2819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7CB90E-D2E9-99E8-22FC-FCE2BF457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328" y="2903538"/>
            <a:ext cx="3416940" cy="313219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21F4E23-3DDF-4D31-1776-5EF2AEB05CF0}"/>
              </a:ext>
            </a:extLst>
          </p:cNvPr>
          <p:cNvSpPr/>
          <p:nvPr/>
        </p:nvSpPr>
        <p:spPr>
          <a:xfrm>
            <a:off x="6953644" y="4737820"/>
            <a:ext cx="1676400" cy="304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8BC8CC-7A0E-052C-773C-E34B24C6E069}"/>
              </a:ext>
            </a:extLst>
          </p:cNvPr>
          <p:cNvSpPr/>
          <p:nvPr/>
        </p:nvSpPr>
        <p:spPr>
          <a:xfrm>
            <a:off x="6956310" y="5418138"/>
            <a:ext cx="1661909" cy="304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B44FCE-1CDD-997F-604F-BA570190D4D0}"/>
              </a:ext>
            </a:extLst>
          </p:cNvPr>
          <p:cNvSpPr/>
          <p:nvPr/>
        </p:nvSpPr>
        <p:spPr>
          <a:xfrm>
            <a:off x="8981607" y="4393897"/>
            <a:ext cx="2904005" cy="68784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86151-2DCB-A942-57E0-B37626D37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D4584F7-35E6-6821-9CE4-7BC6336C9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2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24FEB85-47F8-326B-C81B-7380F3F2E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1981200"/>
            <a:ext cx="5029198" cy="42672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Identify: 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number of records (rows) 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number of fields (columns) 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Insert a new column called Total Sales Value.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9F165F-D260-B433-B786-38F958102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412" y="2209800"/>
            <a:ext cx="4077397" cy="1346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A3DBD1-56D5-F761-D1EC-FEC49D6B7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904" y="4648200"/>
            <a:ext cx="2768887" cy="8801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69662D-A761-D60E-A3FD-F6B35B3F4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412" y="2743200"/>
            <a:ext cx="3201156" cy="2297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FD2FAF-EF87-D4AF-157E-F12B6F609C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149"/>
          <a:stretch>
            <a:fillRect/>
          </a:stretch>
        </p:blipFill>
        <p:spPr>
          <a:xfrm>
            <a:off x="8380412" y="3164762"/>
            <a:ext cx="3733800" cy="22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6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BBBB3-0B6B-C4E0-5EC4-7113DA6FF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92292BC-F0BC-6033-48B4-5B64C7CC4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3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10182DB-FDE6-7E13-3B19-F51268DDD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471" y="1905000"/>
            <a:ext cx="5791198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Ensure: 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Sales, Quantity, and Price columns are numeric.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Date columns are in proper date format. </a:t>
            </a:r>
          </a:p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Apply appropriate number formatting: 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Currency for monetary values. 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Standardize text formatting (Proper Case).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D6023-DBC0-7D40-BDB8-76D9345EA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012" y="1637920"/>
            <a:ext cx="3276600" cy="16120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CCE878-09C8-87EA-9202-98547FFC2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227" y="1632498"/>
            <a:ext cx="2995037" cy="17203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249C85-6C3A-7060-B6D1-A5FE16D5B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212" y="3378666"/>
            <a:ext cx="3201690" cy="16120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1CB9D2-ED4B-7B17-8D1E-EF699AE69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4212" y="3487591"/>
            <a:ext cx="3555403" cy="13385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6B70AB-1AF6-3419-A918-203244D3B33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7273"/>
          <a:stretch>
            <a:fillRect/>
          </a:stretch>
        </p:blipFill>
        <p:spPr>
          <a:xfrm>
            <a:off x="4932727" y="5119412"/>
            <a:ext cx="3941356" cy="16120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6F762E9-DB1F-DD0B-849B-C07D983BA2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2227" y="4865486"/>
            <a:ext cx="2949481" cy="189390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943FD72-C499-A5B8-7ACD-CF83F75B934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55100"/>
          <a:stretch>
            <a:fillRect/>
          </a:stretch>
        </p:blipFill>
        <p:spPr>
          <a:xfrm>
            <a:off x="761494" y="5914934"/>
            <a:ext cx="3796211" cy="43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C5FC6-3167-52E3-09A4-3B8593B8E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600D8C2-EE8A-2172-D732-DDE9ED758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</a:t>
            </a:r>
            <a:r>
              <a:rPr lang="ar-EG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4</a:t>
            </a:r>
            <a:endParaRPr lang="en-US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EE463EA-F4A7-5A78-2AFF-5CC24EC16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029198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a named range for: </a:t>
            </a:r>
            <a:endParaRPr lang="ar-EG" sz="2800" dirty="0">
              <a:latin typeface="Angsana New" panose="02020603050405020304" pitchFamily="18" charset="-34"/>
            </a:endParaRP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Sales Amount column →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Sales_Amount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Use the named range in at least one formula. </a:t>
            </a:r>
            <a:endParaRPr lang="ar-EG" sz="2800" dirty="0">
              <a:latin typeface="Angsana New" panose="02020603050405020304" pitchFamily="18" charset="-34"/>
            </a:endParaRP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Briefly explain why named ranges are useful.</a:t>
            </a:r>
            <a:endParaRPr lang="ar-EG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Answer: </a:t>
            </a:r>
          </a:p>
          <a:p>
            <a:r>
              <a:rPr lang="en-US" sz="2800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Named ranges make formulas easier to read and simplify worksheet management.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0DFBD1-36C2-5AE9-FA7B-A78BBF22D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612" y="1752600"/>
            <a:ext cx="4148748" cy="32499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108207D-6E70-21A2-76F2-C293619F0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12" y="5861091"/>
            <a:ext cx="4001356" cy="4908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23E884-70A2-137F-314B-8495287D9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612" y="5793403"/>
            <a:ext cx="3858322" cy="55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6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76F66-DED3-58B1-867F-975AAEC2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4BCD486-733F-270C-8A35-4F3C350B6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5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53B8239-5115-95CF-156C-367589CB8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2" y="1905000"/>
            <a:ext cx="5029198" cy="4267200"/>
          </a:xfrm>
        </p:spPr>
        <p:txBody>
          <a:bodyPr>
            <a:normAutofit fontScale="92500"/>
          </a:bodyPr>
          <a:lstStyle/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Convert the entire dataset into an Excel Table.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Rename the table to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Ecommerce_Sales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. 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Add a Total Row to the table. 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Explain the advantage of using a table instead of a normal range. </a:t>
            </a:r>
          </a:p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Answer:</a:t>
            </a:r>
          </a:p>
          <a:p>
            <a:r>
              <a:rPr lang="en-US" sz="2800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Tables provide easier sorting, filtering, and automatic expansion when new records are added.</a:t>
            </a:r>
          </a:p>
          <a:p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701B63-CD86-7B5D-6B17-4B32BE97B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373" y="1772320"/>
            <a:ext cx="2759927" cy="2505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3C4BFB-1F7A-BEC6-A0EF-8969FEEAD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12" y="4572000"/>
            <a:ext cx="5373182" cy="15526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536CD57-F55B-2833-2BF9-7347BCC7D3C3}"/>
              </a:ext>
            </a:extLst>
          </p:cNvPr>
          <p:cNvSpPr/>
          <p:nvPr/>
        </p:nvSpPr>
        <p:spPr>
          <a:xfrm>
            <a:off x="6780212" y="5257800"/>
            <a:ext cx="990600" cy="304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4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6B980-620B-BA18-1F6F-DDD0DA3F1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03DE641-6235-58E8-BD3C-BE66564A0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</a:t>
            </a:r>
            <a:r>
              <a:rPr lang="ar-EG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6</a:t>
            </a:r>
            <a:endParaRPr lang="en-US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57F60EF-13E4-B116-ACDA-A327C65B5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64" y="1905000"/>
            <a:ext cx="5029198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Filter the table to show: </a:t>
            </a:r>
            <a:endParaRPr lang="ar-EG" sz="2600" dirty="0">
              <a:latin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One selected product category. </a:t>
            </a:r>
            <a:endParaRPr lang="ar-EG" sz="2600" dirty="0">
              <a:latin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Sort: Sales Amount (Highest → Lowest) </a:t>
            </a:r>
            <a:endParaRPr lang="ar-EG" sz="2600" dirty="0">
              <a:latin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Order Date (Newest → Oldest)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299F2-8FCF-AA39-5F2E-95904A9B7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314"/>
          <a:stretch>
            <a:fillRect/>
          </a:stretch>
        </p:blipFill>
        <p:spPr>
          <a:xfrm>
            <a:off x="4875211" y="1752599"/>
            <a:ext cx="3358105" cy="44287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99B28D-D088-DAFB-1040-836C92159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812" y="1818944"/>
            <a:ext cx="2959541" cy="22196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0119A5-6D92-8538-855C-3BBFD4217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858" y="4250233"/>
            <a:ext cx="3148823" cy="231993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38D22AB-12E0-9824-900A-30E1A632FCB0}"/>
              </a:ext>
            </a:extLst>
          </p:cNvPr>
          <p:cNvSpPr/>
          <p:nvPr/>
        </p:nvSpPr>
        <p:spPr>
          <a:xfrm>
            <a:off x="8990012" y="2590800"/>
            <a:ext cx="2209800" cy="304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1D231F-3D95-7B01-1504-8C5602410C8A}"/>
              </a:ext>
            </a:extLst>
          </p:cNvPr>
          <p:cNvSpPr/>
          <p:nvPr/>
        </p:nvSpPr>
        <p:spPr>
          <a:xfrm>
            <a:off x="8990012" y="5105400"/>
            <a:ext cx="2209800" cy="304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89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0836E-A349-3C27-B38A-A9F4E4C22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6C3D1B3-1B18-1FF4-6F4B-ED08B719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</a:t>
            </a:r>
            <a:r>
              <a:rPr lang="ar-EG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7</a:t>
            </a:r>
            <a:endParaRPr lang="en-US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AC27ADD-3219-E3D0-D50C-CDBFAF2FB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2" y="1905000"/>
            <a:ext cx="5029198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Calculate Total Sales Value using:</a:t>
            </a:r>
            <a:endParaRPr lang="ar-EG" sz="2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 Quantity × Unit Price </a:t>
            </a:r>
            <a:endParaRPr lang="ar-EG" sz="2600" dirty="0">
              <a:latin typeface="Angsana New" panose="02020603050405020304" pitchFamily="18" charset="-34"/>
            </a:endParaRPr>
          </a:p>
          <a:p>
            <a:pPr marL="0" indent="0">
              <a:buNone/>
            </a:pPr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a new column Sales Level using: </a:t>
            </a:r>
            <a:endParaRPr lang="ar-EG" sz="2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IF Sales 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≥</a:t>
            </a:r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 5000 → "High" </a:t>
            </a:r>
            <a:endParaRPr lang="ar-EG" sz="2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Else → "Low"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83CF0F-BDBC-2D60-0AC3-0BB3D4730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330" y="1722438"/>
            <a:ext cx="7195328" cy="10969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AF6412-8890-92D2-2550-E62A63EC2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212" y="3733800"/>
            <a:ext cx="4687199" cy="150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656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0627A-DBBF-7489-15A5-865080F47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A543A42-2E7D-60CF-A9DA-FD818BB0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</a:t>
            </a:r>
            <a:r>
              <a:rPr lang="ar-EG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8</a:t>
            </a:r>
            <a:endParaRPr lang="en-US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E0829B5-3FC9-E885-38A9-220D43BC3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029198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Highlight:</a:t>
            </a:r>
            <a:endParaRPr lang="ar-EG" sz="2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 High sales values in green. </a:t>
            </a:r>
            <a:endParaRPr lang="ar-EG" sz="2600" dirty="0">
              <a:latin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Low sales values in red. </a:t>
            </a:r>
            <a:endParaRPr lang="ar-EG" sz="2600" dirty="0">
              <a:latin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Apply Data Bars to the Sales column.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BC023F-EDA5-82D0-CDDB-E34F15526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792" y="1721596"/>
            <a:ext cx="4273156" cy="1203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E69ACB-CEF9-A85B-1F45-384AEFC6C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612" y="1755152"/>
            <a:ext cx="4339936" cy="1198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22EEA8-A543-714F-C7D9-844192119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212" y="3131973"/>
            <a:ext cx="4267200" cy="354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1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917D5-510D-8F45-626E-A42787D0A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73E8FDC-2AFB-D51F-7478-3E4CE92C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9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65E9434-11FC-C4B5-C18E-CB134DFD0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2" y="1477962"/>
            <a:ext cx="5029198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ar-EG" sz="2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 Remove extra spaces from text fields. </a:t>
            </a: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Replace missing or blank values logically (e.g., Region → “Unknown”). </a:t>
            </a: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Remove duplicate records if found.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9C1A5E-7DE5-F3BF-A312-36A148B00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2" t="62010"/>
          <a:stretch>
            <a:fillRect/>
          </a:stretch>
        </p:blipFill>
        <p:spPr>
          <a:xfrm>
            <a:off x="6104708" y="2362200"/>
            <a:ext cx="4220062" cy="513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5E2F06-DEF2-2751-2D8C-AD45787FA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812" y="3665538"/>
            <a:ext cx="4396005" cy="2362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9E4628-C7C4-AF5B-13D2-FD7B7BE27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5212" y="3581400"/>
            <a:ext cx="3324679" cy="275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3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A3FC0-0EA0-2649-ECD3-96BA498CB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6CDF1F5-61CB-1A35-705D-23FAFCC1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10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77DE557-235C-C383-684A-9222190F6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2" y="1981200"/>
            <a:ext cx="5029198" cy="4114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Calculate: </a:t>
            </a: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Sales using SUM </a:t>
            </a: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Average Sales </a:t>
            </a: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Count: Number of High Sales using COUNTIF </a:t>
            </a: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Identify the top-selling product. </a:t>
            </a: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Identify the category with the highest total sales. </a:t>
            </a: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Add a short insight summary (2–3 sentences) in a new sheet.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E40A86-6ABF-8001-2B94-F864420212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297"/>
          <a:stretch>
            <a:fillRect/>
          </a:stretch>
        </p:blipFill>
        <p:spPr>
          <a:xfrm>
            <a:off x="8913812" y="1870921"/>
            <a:ext cx="1664421" cy="2374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B9D01E-BE4A-4526-59D0-9D9DB14E6F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95" t="-4737" r="1" b="-1"/>
          <a:stretch>
            <a:fillRect/>
          </a:stretch>
        </p:blipFill>
        <p:spPr>
          <a:xfrm>
            <a:off x="8936772" y="2158963"/>
            <a:ext cx="1609113" cy="2158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427709-D597-DFE9-97AF-E8EEE45654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25" t="11965" b="39350"/>
          <a:stretch>
            <a:fillRect/>
          </a:stretch>
        </p:blipFill>
        <p:spPr>
          <a:xfrm>
            <a:off x="8936772" y="2416473"/>
            <a:ext cx="1809529" cy="2003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426BE9-81D6-8303-88B0-D920DAA343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812" y="1727920"/>
            <a:ext cx="2209800" cy="9064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8478110-4F0D-A76B-EA3D-0ECCCE9AB7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0412" y="3027376"/>
            <a:ext cx="3413597" cy="21738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7E4EDAF-F685-6BBF-ABD0-4EFFE0CEC8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612" y="3711343"/>
            <a:ext cx="4799013" cy="132923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05B75E-B40D-9529-AB81-671E3A37CA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2612" y="2920028"/>
            <a:ext cx="5103813" cy="54855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DD248E9-2A73-A976-7C30-91E61D58D5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8812" y="5199079"/>
            <a:ext cx="3527298" cy="150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467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A237DEB9D22E4DB1BA747308CD6572" ma:contentTypeVersion="4" ma:contentTypeDescription="Create a new document." ma:contentTypeScope="" ma:versionID="af6932d0ce23f7cd5ec313e1567d0dc2">
  <xsd:schema xmlns:xsd="http://www.w3.org/2001/XMLSchema" xmlns:xs="http://www.w3.org/2001/XMLSchema" xmlns:p="http://schemas.microsoft.com/office/2006/metadata/properties" xmlns:ns3="8532d950-1ec5-40ae-824c-e0f80976e899" targetNamespace="http://schemas.microsoft.com/office/2006/metadata/properties" ma:root="true" ma:fieldsID="b1369fe30ab7a65f8b736468c8a5103b" ns3:_="">
    <xsd:import namespace="8532d950-1ec5-40ae-824c-e0f80976e8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32d950-1ec5-40ae-824c-e0f80976e8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BEA58C-79F5-4C64-99C4-1A283223A9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32d950-1ec5-40ae-824c-e0f80976e8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1FAF9EB-C1C8-4C5D-8C89-1B6D78416FE2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8532d950-1ec5-40ae-824c-e0f80976e899"/>
  </ds:schemaRefs>
</ds:datastoreItem>
</file>

<file path=customXml/itemProps3.xml><?xml version="1.0" encoding="utf-8"?>
<ds:datastoreItem xmlns:ds="http://schemas.openxmlformats.org/officeDocument/2006/customXml" ds:itemID="{5EFF4C13-3B74-416A-93DB-207A0877F7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327</TotalTime>
  <Words>376</Words>
  <Application>Microsoft Office PowerPoint</Application>
  <PresentationFormat>Custom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Angsana New</vt:lpstr>
      <vt:lpstr>Arial</vt:lpstr>
      <vt:lpstr>Consolas</vt:lpstr>
      <vt:lpstr>Corbel</vt:lpstr>
      <vt:lpstr>Chalkboard 16x9</vt:lpstr>
      <vt:lpstr>Adham Ashraf Saeed</vt:lpstr>
      <vt:lpstr>Task 1</vt:lpstr>
      <vt:lpstr>Task 2</vt:lpstr>
      <vt:lpstr>Task 3</vt:lpstr>
      <vt:lpstr>Task 4</vt:lpstr>
      <vt:lpstr>Task 5</vt:lpstr>
      <vt:lpstr>Task 6</vt:lpstr>
      <vt:lpstr>Task 7</vt:lpstr>
      <vt:lpstr>Task 8</vt:lpstr>
      <vt:lpstr>Task 9</vt:lpstr>
      <vt:lpstr>Task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Adham Ashraf Saeed</dc:creator>
  <cp:lastModifiedBy>Adham Ashraf Saeed</cp:lastModifiedBy>
  <cp:revision>2</cp:revision>
  <dcterms:created xsi:type="dcterms:W3CDTF">2026-06-07T22:28:29Z</dcterms:created>
  <dcterms:modified xsi:type="dcterms:W3CDTF">2026-06-15T23:46:00Z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0x010100D2A237DEB9D22E4DB1BA747308CD6572</vt:lpwstr>
  </property>
</Properties>
</file>