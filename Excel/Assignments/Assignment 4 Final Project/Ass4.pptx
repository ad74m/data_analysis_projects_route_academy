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7" r:id="rId7"/>
    <p:sldId id="272" r:id="rId8"/>
    <p:sldId id="273" r:id="rId9"/>
    <p:sldId id="268" r:id="rId10"/>
    <p:sldId id="274" r:id="rId11"/>
    <p:sldId id="275" r:id="rId12"/>
    <p:sldId id="276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4" d="100"/>
          <a:sy n="94" d="100"/>
        </p:scale>
        <p:origin x="216" y="3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6/26/2026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6/26/2026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</a:t>
            </a:r>
            <a:r>
              <a:rPr lang="ar-EG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4</a:t>
            </a: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 (Final Project)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Project 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7612" y="1905000"/>
            <a:ext cx="9677400" cy="4724400"/>
          </a:xfrm>
        </p:spPr>
        <p:txBody>
          <a:bodyPr>
            <a:normAutofit/>
          </a:bodyPr>
          <a:lstStyle/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Clean and prepare raw data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Use Excel formulas effectively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Perform exploratory data analysis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Build Pivot Tables &amp; dashboards </a:t>
            </a:r>
          </a:p>
          <a:p>
            <a:r>
              <a:rPr lang="pt-BR" sz="4800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Generate business insights </a:t>
            </a:r>
            <a:endParaRPr lang="en-US" sz="4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4615BC4-2D5D-4EF7-FBE9-4E20C21B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4102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1: Data Cleaning &amp; Preparation</a:t>
            </a:r>
            <a:endParaRPr lang="ar-EG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Start with data Importing and Date Exploration and understanding</a:t>
            </a:r>
            <a:r>
              <a:rPr lang="ar-EG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each column and its values </a:t>
            </a:r>
            <a:r>
              <a:rPr lang="en-US" sz="25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meaan</a:t>
            </a:r>
            <a:endParaRPr lang="en-US" sz="25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 Remove duplicates (if any) In Primary Key(</a:t>
            </a:r>
            <a:r>
              <a:rPr lang="en-US" sz="25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Booking_ID</a:t>
            </a: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Handle missing values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Standardize text fields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 Arrival Date Issue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0D638-1AFC-2158-2F9A-D5FF9EB0E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48" y="1631998"/>
            <a:ext cx="2738965" cy="21180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F28202-B7CA-EBB4-58C0-F313091D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012" y="1572195"/>
            <a:ext cx="2610642" cy="11188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28BCE8-4949-F42A-8976-273A564B4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012" y="2886155"/>
            <a:ext cx="2610642" cy="13797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B8F4A-00C9-4C94-8A7F-A20E9859C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412" y="4498616"/>
            <a:ext cx="3356591" cy="848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B3F1C-8F64-67C9-DA63-042966732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616" y="4495800"/>
            <a:ext cx="3284597" cy="854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D18842-4939-A2D2-22C7-4BE2AF80DE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08" y="5629272"/>
            <a:ext cx="3409561" cy="1103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50850-61A4-3145-DAC6-2BDFBB4125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12" y="6372274"/>
            <a:ext cx="5867400" cy="2442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92B14D-5D20-82E7-3E4C-B8DB0EB2C4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3412" y="5837888"/>
            <a:ext cx="1828958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399E8-1AB5-6441-9FA1-8AB775B3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5E99FDC-0D37-E106-A5F5-8107547E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434545-6B0F-D19B-2BF3-48870A2A1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8674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2: Creating useful (Calculated Columns)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Stay Nights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Guest Type ("Single", "Couple", "Family")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Arrival date (Month/ Day/ Year)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Payment Risk("High Risk", "Low Risk") Based on Deposit Status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Guests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7E03A6-DBD4-8D98-8F9C-1EEC9A87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12" y="2564158"/>
            <a:ext cx="3810330" cy="304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97CB1-3B13-96F3-BF85-67840EA5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2" y="2209800"/>
            <a:ext cx="1588908" cy="3238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0393CD-7503-BA82-CADB-964C31A39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012" y="3429000"/>
            <a:ext cx="4953429" cy="2095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86FD4C-1C4F-6856-6F26-374709171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012" y="3093694"/>
            <a:ext cx="1093565" cy="3238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C9917A-7F7E-70D3-BFA7-78A805F3A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094" y="4126396"/>
            <a:ext cx="5867400" cy="244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CBBB7C1-F1AA-7F3D-5820-F35CAE0752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212" y="3748627"/>
            <a:ext cx="1828958" cy="3429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43908A9-CE3A-C992-A428-E029B4B4E2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2227" y="4706047"/>
            <a:ext cx="1303133" cy="3048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82D7D2A-B8DA-77B8-2FA7-C75FFD60AC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1758" y="5033841"/>
            <a:ext cx="4179932" cy="31244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83D14A-1F3C-F58E-9427-76CC551581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6575" y="6172180"/>
            <a:ext cx="2324301" cy="2286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E3C1C0-D663-6D09-8D31-3FA643107F8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3287"/>
          <a:stretch>
            <a:fillRect/>
          </a:stretch>
        </p:blipFill>
        <p:spPr>
          <a:xfrm>
            <a:off x="7810880" y="5836764"/>
            <a:ext cx="1131668" cy="29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1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702E-E0C1-E93D-E67F-9BA0CA50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4300F42-E109-7100-9531-2C82B623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A0CED7-ED97-9418-2D58-F4CD217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4102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2: Creating useful (Calculated Columns)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Revenue per Booking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Booking Status ( Cancelled/ Not Cancelled)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Lead Time Category (Long: Higher than 90 days , Medium, Short: less than 30)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Feel Free to create more calculated columns to enhance your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BACD9-8A6B-75CC-39B7-8EC6138A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984" y="2549950"/>
            <a:ext cx="3238781" cy="293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5751C-6BB9-DF5D-E0EC-188F8D101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0" y="2207020"/>
            <a:ext cx="1817528" cy="342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230D5D-7E24-724F-CF07-23CD92074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79" y="3271681"/>
            <a:ext cx="3684589" cy="285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B520F7-434B-C410-0B6B-9ABBE9966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012" y="2928751"/>
            <a:ext cx="1352667" cy="342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4E0706-DB11-7FF3-9E73-308ED6FB6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6668" y="4174729"/>
            <a:ext cx="4846740" cy="2667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3F29B9-37FD-0A74-DC59-5F2110B29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4610" y="3869903"/>
            <a:ext cx="1790855" cy="3048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3A7588-6639-8656-2DCD-0D9349F6C5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9557" y="5058725"/>
            <a:ext cx="6649026" cy="2552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0CD1B83-4420-F151-BE7E-1A321CF8F3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3212" y="4746278"/>
            <a:ext cx="1627011" cy="3124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A1D725-FB58-E7A6-7361-EC8B8E9D93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1603" y="6015747"/>
            <a:ext cx="7011008" cy="2667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CE3216-AA73-8E5D-0801-B696ED3D57D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6229"/>
          <a:stretch>
            <a:fillRect/>
          </a:stretch>
        </p:blipFill>
        <p:spPr>
          <a:xfrm>
            <a:off x="8090883" y="5703674"/>
            <a:ext cx="998307" cy="293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8501B94-822E-B50F-6AAF-4CA61D4AF2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8812" y="5311983"/>
            <a:ext cx="769687" cy="30482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88DC0DC-EA0B-B3A5-3665-CD0C32F6442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005"/>
          <a:stretch>
            <a:fillRect/>
          </a:stretch>
        </p:blipFill>
        <p:spPr>
          <a:xfrm>
            <a:off x="3255354" y="5616809"/>
            <a:ext cx="656602" cy="10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0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B2EE-0851-3A7F-50D8-BBA193DC1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5B27C23-951F-8455-B1E8-BEBC6F21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3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19C77EA-FF1A-51F6-16A0-D0F84D71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3: PivotTables &amp; Insights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Ask Strong business Questions and answer it by Pivot Tables</a:t>
            </a:r>
          </a:p>
          <a:p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B64F8-5DC7-F784-04AF-B2E61DC7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8"/>
          <a:stretch>
            <a:fillRect/>
          </a:stretch>
        </p:blipFill>
        <p:spPr>
          <a:xfrm>
            <a:off x="5237629" y="1671680"/>
            <a:ext cx="2667000" cy="8838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73933E-2C29-C66B-8C81-48FDD5497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3048000"/>
            <a:ext cx="10783234" cy="971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3EC8C0-9A85-F8B1-E6B8-DB50651A6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12" y="4191000"/>
            <a:ext cx="11582400" cy="885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1F1940-4860-B5F5-10B4-25887ABAA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866" y="5357765"/>
            <a:ext cx="8382726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9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6DD2-0CDD-FDC6-AC27-C4979E62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D705934-F44A-2A25-9DB1-0288C780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4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A9F438B-708E-F61A-4913-1D76EE841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724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4: Data Visualization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charts to Visualize each</a:t>
            </a:r>
          </a:p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Dashboard Creation: Build an interactive dashboard including:</a:t>
            </a:r>
          </a:p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KPIs: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Bookings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Revenue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Cancellation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52F57-87EC-C675-5058-3C9352ED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12" y="4343400"/>
            <a:ext cx="8034918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60EC-69B2-61B4-FE33-B63A05AC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3A05F45-82D2-B879-8CC2-3414D1EC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4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BDAD7AB-C680-B194-CCF8-4C90D4FB0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Phase 4: Data Visualization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charts to Visualize each</a:t>
            </a:r>
          </a:p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Dashboard Creation: Build an interactive dashboard including:</a:t>
            </a:r>
          </a:p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Filters (Slicers):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Hotel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Year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Customer Type</a:t>
            </a:r>
          </a:p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Charts &amp; PivotTables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6F98B-F214-9C01-96CD-334F360E5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12" y="4038600"/>
            <a:ext cx="7514272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6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AA05-4A66-67EF-2419-DF86C4C7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52FFBE5-135F-BF96-E653-F761F238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52400"/>
            <a:ext cx="9143998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090088-C41A-6002-C671-3D5E4BD07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2" y="569469"/>
            <a:ext cx="11475400" cy="628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5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8532d950-1ec5-40ae-824c-e0f80976e899"/>
    <ds:schemaRef ds:uri="http://purl.org/dc/dcmitype/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855</TotalTime>
  <Words>264</Words>
  <Application>Microsoft Office PowerPoint</Application>
  <PresentationFormat>Custom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Consolas</vt:lpstr>
      <vt:lpstr>Corbel</vt:lpstr>
      <vt:lpstr>Chalkboard 16x9</vt:lpstr>
      <vt:lpstr>Adham Ashraf Saeed</vt:lpstr>
      <vt:lpstr>Project Objectives</vt:lpstr>
      <vt:lpstr>Task 1</vt:lpstr>
      <vt:lpstr>Task 2</vt:lpstr>
      <vt:lpstr>Task 2</vt:lpstr>
      <vt:lpstr>Task 3</vt:lpstr>
      <vt:lpstr>Task 4</vt:lpstr>
      <vt:lpstr>Task 4</vt:lpstr>
      <vt:lpstr>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7</cp:revision>
  <dcterms:created xsi:type="dcterms:W3CDTF">2026-06-07T22:28:29Z</dcterms:created>
  <dcterms:modified xsi:type="dcterms:W3CDTF">2026-06-26T01:39:36Z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